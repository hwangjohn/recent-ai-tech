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hyperlink" Target="https://arxiv.org/abs/1706.03762" TargetMode="External"/><Relationship Id="rId2" Type="http://schemas.openxmlformats.org/officeDocument/2006/relationships/hyperlink" Target="https://ai.googleblog.com/" TargetMode="External"/><Relationship Id="rId3" Type="http://schemas.openxmlformats.org/officeDocument/2006/relationships/hyperlink" Target="https://openai.com/research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93/mind/LIX.236.433" TargetMode="External"/><Relationship Id="rId2" Type="http://schemas.openxmlformats.org/officeDocument/2006/relationships/hyperlink" Target="https://doi.org/10.1038/nature16961" TargetMode="External"/><Relationship Id="rId3" Type="http://schemas.openxmlformats.org/officeDocument/2006/relationships/hyperlink" Target="https://www.reuters.com/technology/chatgpt-sets-record-fastest-growing-user-base-2023-02-01/" TargetMode="External"/><Relationship Id="rId4" Type="http://schemas.openxmlformats.org/officeDocument/2006/relationships/hyperlink" Target="https://www.gartner.com/en/newsroom/press-releases/2025-08-26-gartner-predicts-40-percent-of-enterprise-apps-will-feature-task-specific-ai-agents-by-2026-up-from-less-than-5-percent-in-2025" TargetMode="Externa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gartner.com/en/newsroom/press-releases/2026-1-15-gartner-says-worldwide-ai-spending-will-total-2-point-5-trillion-dollars-in-2026" TargetMode="External"/><Relationship Id="rId2" Type="http://schemas.openxmlformats.org/officeDocument/2006/relationships/hyperlink" Target="https://aibusinessweekly.net/p/chatgpt-statistics" TargetMode="External"/><Relationship Id="rId3" Type="http://schemas.openxmlformats.org/officeDocument/2006/relationships/hyperlink" Target="https://sacra.com/c/openai/" TargetMode="External"/><Relationship Id="rId4" Type="http://schemas.openxmlformats.org/officeDocument/2006/relationships/hyperlink" Target="https://www.gartner.com/en/newsroom/press-releases/2025-03-31-gartner-forecasts-worldwide-genai-spending-to-reach-644-billion-in-2025" TargetMode="Externa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drugtargetreview.com/article/192951/ai-in-drug-discovery-2025-in-review/" TargetMode="External"/><Relationship Id="rId2" Type="http://schemas.openxmlformats.org/officeDocument/2006/relationships/hyperlink" Target="https://www.fda.gov/news-events/press-announcements/fda-proposes-framework-advance-credibility-ai-models-used-drug-and-biological-product-submissions" TargetMode="External"/><Relationship Id="rId3" Type="http://schemas.openxmlformats.org/officeDocument/2006/relationships/hyperlink" Target="https://www.feedzai.com/pressrelease/ai-fraud-trends-2025/" TargetMode="External"/><Relationship Id="rId4" Type="http://schemas.openxmlformats.org/officeDocument/2006/relationships/hyperlink" Target="https://www.figure.ai/news" TargetMode="Externa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globalsociety.earth/post/khan-academy-rolls-out-ai-powered-teaching-tools-as-school-districts-scale-up-adoption" TargetMode="External"/><Relationship Id="rId2" Type="http://schemas.openxmlformats.org/officeDocument/2006/relationships/hyperlink" Target="https://openai.com/index/sora-2/" TargetMode="External"/><Relationship Id="rId3" Type="http://schemas.openxmlformats.org/officeDocument/2006/relationships/hyperlink" Target="https://wavespeed.ai/blog/posts/openai-sora-2-complete-guide-2026/" TargetMode="External"/><Relationship Id="rId4" Type="http://schemas.openxmlformats.org/officeDocument/2006/relationships/hyperlink" Target="https://aibusinessweekly.net/p/chatgpt-statistics" TargetMode="Externa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quantumrun.com/consulting/github-copilot-statistics/" TargetMode="External"/><Relationship Id="rId2" Type="http://schemas.openxmlformats.org/officeDocument/2006/relationships/hyperlink" Target="https://digidai.github.io/2026/02/08/cursor-vs-github-copilot-ai-coding-tools-deep-comparison/" TargetMode="External"/><Relationship Id="rId3" Type="http://schemas.openxmlformats.org/officeDocument/2006/relationships/hyperlink" Target="https://www.microsoft.com/en-us/microsoft-365/blog/2024/05/01/new-forrester-tei-study-finds-microsoft-365-copilot-has-317-roi/" TargetMode="External"/><Relationship Id="rId4" Type="http://schemas.openxmlformats.org/officeDocument/2006/relationships/hyperlink" Target="https://www.salesforce.com/news/stories/ai-agents-statistics/" TargetMode="Externa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mstoday.co.kr/news/articleView.html?idxno=99963" TargetMode="External"/><Relationship Id="rId2" Type="http://schemas.openxmlformats.org/officeDocument/2006/relationships/hyperlink" Target="https://www.investkorea.org/ik-en/bbs/i-5025/detail.do?ntt_sn=490804" TargetMode="External"/><Relationship Id="rId3" Type="http://schemas.openxmlformats.org/officeDocument/2006/relationships/hyperlink" Target="https://www.koreaherald.com/article/10652980" TargetMode="External"/><Relationship Id="rId4" Type="http://schemas.openxmlformats.org/officeDocument/2006/relationships/hyperlink" Target="https://news.samsung.com/kr/" TargetMode="Externa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gartner.com/en/newsroom/press-releases/2025-08-26-gartner-predicts-40-percent-of-enterprise-apps-will-feature-task-specific-ai-agents-by-2026-up-from-less-than-5-percent-in-2025" TargetMode="External"/><Relationship Id="rId2" Type="http://schemas.openxmlformats.org/officeDocument/2006/relationships/hyperlink" Target="https://www.technologyreview.com/2025/01/23/1110484/openai-launches-operator-an-agent-that-can-use-a-computer-for-you/" TargetMode="External"/><Relationship Id="rId3" Type="http://schemas.openxmlformats.org/officeDocument/2006/relationships/hyperlink" Target="https://www.pento.ai/blog/a-year-of-mcp-2025-review" TargetMode="External"/><Relationship Id="rId4" Type="http://schemas.openxmlformats.org/officeDocument/2006/relationships/hyperlink" Target="https://www.multimodal.dev/post/agentic-ai-statistics" TargetMode="Externa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reports.weforum.org/docs/WEF_Future_of_Jobs_Report_2025.pdf" TargetMode="External"/><Relationship Id="rId2" Type="http://schemas.openxmlformats.org/officeDocument/2006/relationships/hyperlink" Target="https://www.imf.org/en/blogs/articles/2026/01/14/new-skills-and-ai-are-reshaping-the-future-of-work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44401" y="1620738"/>
            <a:ext cx="634901" cy="50750"/>
          </a:xfrm>
          <a:prstGeom prst="roundRect">
            <a:avLst>
              <a:gd name="adj" fmla="val 50049"/>
            </a:avLst>
          </a:prstGeom>
          <a:solidFill>
            <a:srgbClr val="06B6D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44401" y="1900089"/>
            <a:ext cx="3238601" cy="9242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40"/>
              </a:lnSpc>
              <a:spcAft>
                <a:spcPts val="800"/>
              </a:spcAft>
              <a:buNone/>
            </a:pPr>
            <a:r>
              <a:rPr lang="en-US" sz="2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AI, 어디까지</a:t>
            </a:r>
            <a:endParaRPr lang="en-US" sz="2800" dirty="0"/>
          </a:p>
          <a:p>
            <a:pPr algn="l" indent="0" marL="0">
              <a:lnSpc>
                <a:spcPts val="3640"/>
              </a:lnSpc>
              <a:spcAft>
                <a:spcPts val="800"/>
              </a:spcAft>
              <a:buNone/>
            </a:pPr>
            <a:r>
              <a:rPr lang="en-US" sz="2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왔을까?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44401" y="2925812"/>
            <a:ext cx="323860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0"/>
              </a:spcAft>
              <a:buNone/>
            </a:pPr>
            <a:r>
              <a:rPr lang="en-US" sz="1300" b="1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비전공자를 위한 인공지능 핵심 가이드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44401" y="3379738"/>
            <a:ext cx="323860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2026.03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064050" y="0"/>
            <a:ext cx="5079950" cy="5143500"/>
          </a:xfrm>
          <a:prstGeom prst="rect">
            <a:avLst/>
          </a:prstGeom>
          <a:solidFill>
            <a:srgbClr val="1E3A5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422850" y="1390650"/>
            <a:ext cx="2362200" cy="2362200"/>
          </a:xfrm>
          <a:prstGeom prst="roundRect">
            <a:avLst>
              <a:gd name="adj" fmla="val 38710"/>
            </a:avLst>
          </a:prstGeom>
          <a:noFill/>
          <a:ln w="38100">
            <a:solidFill>
              <a:srgbClr val="06B6D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5715000" y="1682800"/>
            <a:ext cx="1777901" cy="1777901"/>
          </a:xfrm>
          <a:prstGeom prst="roundRect">
            <a:avLst>
              <a:gd name="adj" fmla="val 51431"/>
            </a:avLst>
          </a:prstGeom>
          <a:solidFill>
            <a:srgbClr val="162D4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6396587" y="2255788"/>
            <a:ext cx="414579" cy="466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6146259" y="2773263"/>
            <a:ext cx="91538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400"/>
              </a:spcBef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Artificial Intelligence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8001149" y="762000"/>
            <a:ext cx="126950" cy="126950"/>
          </a:xfrm>
          <a:prstGeom prst="roundRect">
            <a:avLst>
              <a:gd name="adj" fmla="val 720284"/>
            </a:avLst>
          </a:prstGeom>
          <a:solidFill>
            <a:srgbClr val="06B6D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7543800" y="4051399"/>
            <a:ext cx="76200" cy="76200"/>
          </a:xfrm>
          <a:prstGeom prst="roundRect">
            <a:avLst>
              <a:gd name="adj" fmla="val 1200000"/>
            </a:avLst>
          </a:prstGeom>
          <a:solidFill>
            <a:srgbClr val="3B82F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407598" y="3517999"/>
            <a:ext cx="101501" cy="101501"/>
          </a:xfrm>
          <a:prstGeom prst="roundRect">
            <a:avLst>
              <a:gd name="adj" fmla="val 900878"/>
            </a:avLst>
          </a:prstGeom>
          <a:solidFill>
            <a:srgbClr val="F43F5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660350"/>
          </a:xfrm>
          <a:prstGeom prst="rect">
            <a:avLst/>
          </a:prstGeom>
          <a:solidFill>
            <a:srgbClr val="0B142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81000" y="215801"/>
            <a:ext cx="12074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AI란 무엇인가?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8483650" y="0"/>
            <a:ext cx="660350" cy="660350"/>
          </a:xfrm>
          <a:prstGeom prst="rect">
            <a:avLst/>
          </a:prstGeom>
          <a:solidFill>
            <a:srgbClr val="06B6D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8736062" y="253901"/>
            <a:ext cx="15848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25351" y="895201"/>
            <a:ext cx="3340001" cy="3340001"/>
          </a:xfrm>
          <a:prstGeom prst="roundRect">
            <a:avLst>
              <a:gd name="adj" fmla="val 27377"/>
            </a:avLst>
          </a:prstGeom>
          <a:solidFill>
            <a:srgbClr val="E0F2FE"/>
          </a:solidFill>
          <a:ln w="19050">
            <a:solidFill>
              <a:srgbClr val="3B82F6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079302" y="1015752"/>
            <a:ext cx="55970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(인공지능)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69752" y="1339602"/>
            <a:ext cx="2451050" cy="2451050"/>
          </a:xfrm>
          <a:prstGeom prst="roundRect">
            <a:avLst>
              <a:gd name="adj" fmla="val 37306"/>
            </a:avLst>
          </a:prstGeom>
          <a:solidFill>
            <a:srgbClr val="DBEAFE"/>
          </a:solidFill>
          <a:ln w="19050">
            <a:solidFill>
              <a:srgbClr val="2563EB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698302" y="1015752"/>
            <a:ext cx="31378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머신러닝</a:t>
            </a:r>
            <a:endParaRPr lang="en-US" sz="700" dirty="0"/>
          </a:p>
        </p:txBody>
      </p:sp>
      <p:sp>
        <p:nvSpPr>
          <p:cNvPr id="10" name="Text 8"/>
          <p:cNvSpPr/>
          <p:nvPr/>
        </p:nvSpPr>
        <p:spPr>
          <a:xfrm>
            <a:off x="1314152" y="1784003"/>
            <a:ext cx="1562100" cy="1562100"/>
          </a:xfrm>
          <a:prstGeom prst="roundRect">
            <a:avLst>
              <a:gd name="adj" fmla="val 58537"/>
            </a:avLst>
          </a:prstGeom>
          <a:solidFill>
            <a:srgbClr val="BFDBFE"/>
          </a:solidFill>
          <a:ln w="19050">
            <a:solidFill>
              <a:srgbClr val="1D4ED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596801" y="990451"/>
            <a:ext cx="23529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딥러닝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1714202" y="2184053"/>
            <a:ext cx="762000" cy="762000"/>
          </a:xfrm>
          <a:prstGeom prst="roundRect">
            <a:avLst>
              <a:gd name="adj" fmla="val 120000"/>
            </a:avLst>
          </a:prstGeom>
          <a:solidFill>
            <a:srgbClr val="06B6D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2019604" y="2479328"/>
            <a:ext cx="15119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</a:t>
            </a:r>
            <a:endParaRPr lang="en-US" sz="600" dirty="0"/>
          </a:p>
          <a:p>
            <a:pPr algn="ctr"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</a:t>
            </a:r>
            <a:endParaRPr lang="en-US" sz="600" dirty="0"/>
          </a:p>
        </p:txBody>
      </p:sp>
      <p:sp>
        <p:nvSpPr>
          <p:cNvPr id="14" name="Text 12"/>
          <p:cNvSpPr/>
          <p:nvPr/>
        </p:nvSpPr>
        <p:spPr>
          <a:xfrm>
            <a:off x="4127450" y="914251"/>
            <a:ext cx="4698950" cy="679252"/>
          </a:xfrm>
          <a:prstGeom prst="roundRect">
            <a:avLst>
              <a:gd name="adj" fmla="val 11218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4151263" y="914251"/>
            <a:ext cx="0" cy="679252"/>
          </a:xfrm>
          <a:prstGeom prst="line">
            <a:avLst/>
          </a:prstGeom>
          <a:noFill/>
          <a:ln w="47625">
            <a:solidFill>
              <a:srgbClr val="3B82F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352776" y="1041202"/>
            <a:ext cx="438184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(Artificial Intelligence)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352776" y="1212652"/>
            <a:ext cx="438184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사람처럼 생각하고 판단하는 컴퓨터 프로그램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4352776" y="1361777"/>
            <a:ext cx="438184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예: 스팸 필터, 지도 앱 경로 추천, 번역기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4127450" y="1695004"/>
            <a:ext cx="4698950" cy="688777"/>
          </a:xfrm>
          <a:prstGeom prst="roundRect">
            <a:avLst>
              <a:gd name="adj" fmla="val 11063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Shape 18"/>
          <p:cNvSpPr/>
          <p:nvPr/>
        </p:nvSpPr>
        <p:spPr>
          <a:xfrm>
            <a:off x="4151263" y="1695004"/>
            <a:ext cx="0" cy="688777"/>
          </a:xfrm>
          <a:prstGeom prst="line">
            <a:avLst/>
          </a:prstGeom>
          <a:noFill/>
          <a:ln w="47625">
            <a:solidFill>
              <a:srgbClr val="1D4ED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352776" y="1821954"/>
            <a:ext cx="438184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머신러닝 (Machine Learning)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352776" y="2002929"/>
            <a:ext cx="438184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데이터를 통해 스스로 규칙을 학습하는 AI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352776" y="2152055"/>
            <a:ext cx="438184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예: 고양이 사진 1만 장 학습 → 특징 자동 파악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4127450" y="2485281"/>
            <a:ext cx="4698950" cy="688777"/>
          </a:xfrm>
          <a:prstGeom prst="roundRect">
            <a:avLst>
              <a:gd name="adj" fmla="val 11063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hape 23"/>
          <p:cNvSpPr/>
          <p:nvPr/>
        </p:nvSpPr>
        <p:spPr>
          <a:xfrm>
            <a:off x="4151263" y="2485281"/>
            <a:ext cx="0" cy="688777"/>
          </a:xfrm>
          <a:prstGeom prst="line">
            <a:avLst/>
          </a:prstGeom>
          <a:noFill/>
          <a:ln w="47625">
            <a:solidFill>
              <a:srgbClr val="06B6D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352776" y="2612231"/>
            <a:ext cx="438184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딥러닝 (Deep Learning)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352776" y="2793206"/>
            <a:ext cx="438184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인간 뇌의 신경망 구조를 모방한 머신러닝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4352776" y="2942332"/>
            <a:ext cx="438184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예: 이미지 인식, 음성 인식, 자연어 처리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4127450" y="3275558"/>
            <a:ext cx="4698950" cy="688777"/>
          </a:xfrm>
          <a:prstGeom prst="roundRect">
            <a:avLst>
              <a:gd name="adj" fmla="val 11063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Shape 28"/>
          <p:cNvSpPr/>
          <p:nvPr/>
        </p:nvSpPr>
        <p:spPr>
          <a:xfrm>
            <a:off x="4151263" y="3275558"/>
            <a:ext cx="0" cy="688777"/>
          </a:xfrm>
          <a:prstGeom prst="line">
            <a:avLst/>
          </a:prstGeom>
          <a:noFill/>
          <a:ln w="47625">
            <a:solidFill>
              <a:srgbClr val="F43F5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352776" y="3402509"/>
            <a:ext cx="438184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F43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생성형 AI (Generative AI)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352776" y="3583484"/>
            <a:ext cx="438184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새로운 콘텐츠를 '창작'하는 AI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4352776" y="3732609"/>
            <a:ext cx="438184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예: ChatGPT(텍스트), Midjourney(이미지), Sora 2(영상), Suno(음악)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4127450" y="4065836"/>
            <a:ext cx="4698950" cy="507802"/>
          </a:xfrm>
          <a:prstGeom prst="roundRect">
            <a:avLst>
              <a:gd name="adj" fmla="val 15006"/>
            </a:avLst>
          </a:prstGeom>
          <a:solidFill>
            <a:srgbClr val="0B142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4305151" y="4192786"/>
            <a:ext cx="205482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7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기존 AI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4305151" y="4322862"/>
            <a:ext cx="205482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"이건 고양이" (분류)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6476851" y="4192786"/>
            <a:ext cx="0" cy="253901"/>
          </a:xfrm>
          <a:prstGeom prst="line">
            <a:avLst/>
          </a:prstGeom>
          <a:noFill/>
          <a:ln w="9525">
            <a:solidFill>
              <a:srgbClr val="33415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634014" y="4192786"/>
            <a:ext cx="2054980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700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생성형 AI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6634014" y="4322862"/>
            <a:ext cx="205498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"고양이 그려줘" (창작)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256032" y="4736592"/>
            <a:ext cx="8631936" cy="1828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500" b="1" dirty="0">
                <a:solidFill>
                  <a:srgbClr val="94A3B8"/>
                </a:solidFill>
              </a:rPr>
              <a:t>출처: </a:t>
            </a:r>
            <a:pPr indent="0" marL="0">
              <a:buNone/>
            </a:pPr>
            <a:r>
              <a:rPr lang="en-US" sz="500" u="sng" dirty="0">
                <a:solidFill>
                  <a:srgbClr val="06B6D4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Vaswani et al. 2017</a:t>
            </a:r>
            <a:pPr indent="0" marL="0">
              <a:buNone/>
            </a:pPr>
            <a:r>
              <a:rPr lang="en-US" sz="500" dirty="0">
                <a:solidFill>
                  <a:srgbClr val="64748B"/>
                </a:solidFill>
              </a:rPr>
              <a:t> | </a:t>
            </a:r>
            <a:pPr indent="0" marL="0">
              <a:buNone/>
            </a:pPr>
            <a:r>
              <a:rPr lang="en-US" sz="500" u="sng" dirty="0">
                <a:solidFill>
                  <a:srgbClr val="06B6D4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Google AI Blog</a:t>
            </a:r>
            <a:pPr indent="0" marL="0">
              <a:buNone/>
            </a:pPr>
            <a:r>
              <a:rPr lang="en-US" sz="500" dirty="0">
                <a:solidFill>
                  <a:srgbClr val="64748B"/>
                </a:solidFill>
              </a:rPr>
              <a:t> | </a:t>
            </a:r>
            <a:pPr indent="0" marL="0">
              <a:buNone/>
            </a:pPr>
            <a:r>
              <a:rPr lang="en-US" sz="500" u="sng" dirty="0">
                <a:solidFill>
                  <a:srgbClr val="06B6D4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OpenAI</a:t>
            </a:r>
            <a:endParaRPr lang="en-US" sz="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660350"/>
          </a:xfrm>
          <a:prstGeom prst="rect">
            <a:avLst/>
          </a:prstGeom>
          <a:solidFill>
            <a:srgbClr val="0B142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81000" y="215801"/>
            <a:ext cx="198773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AI의 역사 - 핵심 마일스톤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8483650" y="0"/>
            <a:ext cx="660350" cy="660350"/>
          </a:xfrm>
          <a:prstGeom prst="rect">
            <a:avLst/>
          </a:prstGeom>
          <a:solidFill>
            <a:srgbClr val="06B6D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8736062" y="253901"/>
            <a:ext cx="15848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44401" y="2412950"/>
            <a:ext cx="8254901" cy="38100"/>
          </a:xfrm>
          <a:prstGeom prst="roundRect">
            <a:avLst>
              <a:gd name="adj" fmla="val 66667"/>
            </a:avLst>
          </a:prstGeom>
          <a:solidFill>
            <a:srgbClr val="CBD5E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90500" y="1041350"/>
            <a:ext cx="990600" cy="488603"/>
          </a:xfrm>
          <a:prstGeom prst="roundRect">
            <a:avLst>
              <a:gd name="adj" fmla="val 1299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245263" y="1104751"/>
            <a:ext cx="88107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1950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245263" y="1263402"/>
            <a:ext cx="88107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앨런 튜링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245263" y="1380827"/>
            <a:ext cx="88107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"기계도 생각할 수 있을까?"</a:t>
            </a:r>
            <a:endParaRPr lang="en-US" sz="600" dirty="0"/>
          </a:p>
        </p:txBody>
      </p:sp>
      <p:sp>
        <p:nvSpPr>
          <p:cNvPr id="11" name="Text 9"/>
          <p:cNvSpPr/>
          <p:nvPr/>
        </p:nvSpPr>
        <p:spPr>
          <a:xfrm>
            <a:off x="596950" y="1593354"/>
            <a:ext cx="177701" cy="177701"/>
          </a:xfrm>
          <a:prstGeom prst="roundRect">
            <a:avLst>
              <a:gd name="adj" fmla="val 514572"/>
            </a:avLst>
          </a:prstGeom>
          <a:solidFill>
            <a:srgbClr val="3B82F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714500" y="2336750"/>
            <a:ext cx="177701" cy="177701"/>
          </a:xfrm>
          <a:prstGeom prst="roundRect">
            <a:avLst>
              <a:gd name="adj" fmla="val 514572"/>
            </a:avLst>
          </a:prstGeom>
          <a:solidFill>
            <a:srgbClr val="3B82F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1308050" y="2577852"/>
            <a:ext cx="990600" cy="488603"/>
          </a:xfrm>
          <a:prstGeom prst="roundRect">
            <a:avLst>
              <a:gd name="adj" fmla="val 1299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1362813" y="2641253"/>
            <a:ext cx="88107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1956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362813" y="2799904"/>
            <a:ext cx="88107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다트머스 회의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362813" y="2917329"/>
            <a:ext cx="88107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'인공지능' 용어 탄생</a:t>
            </a:r>
            <a:endParaRPr lang="en-US" sz="600" dirty="0"/>
          </a:p>
        </p:txBody>
      </p:sp>
      <p:sp>
        <p:nvSpPr>
          <p:cNvPr id="17" name="Text 15"/>
          <p:cNvSpPr/>
          <p:nvPr/>
        </p:nvSpPr>
        <p:spPr>
          <a:xfrm>
            <a:off x="2425601" y="1041350"/>
            <a:ext cx="990600" cy="488603"/>
          </a:xfrm>
          <a:prstGeom prst="roundRect">
            <a:avLst>
              <a:gd name="adj" fmla="val 1299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2480364" y="1104751"/>
            <a:ext cx="88107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1997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480364" y="1263402"/>
            <a:ext cx="88107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IBM 딥블루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2480364" y="1380827"/>
            <a:ext cx="88107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체스 세계챔피언 격파</a:t>
            </a:r>
            <a:endParaRPr lang="en-US" sz="600" dirty="0"/>
          </a:p>
        </p:txBody>
      </p:sp>
      <p:sp>
        <p:nvSpPr>
          <p:cNvPr id="21" name="Text 19"/>
          <p:cNvSpPr/>
          <p:nvPr/>
        </p:nvSpPr>
        <p:spPr>
          <a:xfrm>
            <a:off x="2832050" y="1593354"/>
            <a:ext cx="177701" cy="177701"/>
          </a:xfrm>
          <a:prstGeom prst="roundRect">
            <a:avLst>
              <a:gd name="adj" fmla="val 514572"/>
            </a:avLst>
          </a:prstGeom>
          <a:solidFill>
            <a:srgbClr val="3B82F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3949750" y="2336750"/>
            <a:ext cx="177701" cy="177701"/>
          </a:xfrm>
          <a:prstGeom prst="roundRect">
            <a:avLst>
              <a:gd name="adj" fmla="val 514572"/>
            </a:avLst>
          </a:prstGeom>
          <a:solidFill>
            <a:srgbClr val="F59E0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3543300" y="2577852"/>
            <a:ext cx="990600" cy="488603"/>
          </a:xfrm>
          <a:prstGeom prst="roundRect">
            <a:avLst>
              <a:gd name="adj" fmla="val 1299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3598063" y="2641253"/>
            <a:ext cx="88107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2012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598063" y="2799904"/>
            <a:ext cx="88107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딥러닝 혁명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3598063" y="2917329"/>
            <a:ext cx="88107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AlexNet, GPU 학습 시대</a:t>
            </a:r>
            <a:endParaRPr lang="en-US" sz="600" dirty="0"/>
          </a:p>
        </p:txBody>
      </p:sp>
      <p:sp>
        <p:nvSpPr>
          <p:cNvPr id="27" name="Text 25"/>
          <p:cNvSpPr/>
          <p:nvPr/>
        </p:nvSpPr>
        <p:spPr>
          <a:xfrm>
            <a:off x="4660850" y="1041350"/>
            <a:ext cx="990600" cy="479078"/>
          </a:xfrm>
          <a:prstGeom prst="roundRect">
            <a:avLst>
              <a:gd name="adj" fmla="val 1325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4715613" y="1104751"/>
            <a:ext cx="88107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2016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715613" y="1263402"/>
            <a:ext cx="881074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AlphaGo</a:t>
            </a:r>
            <a:endParaRPr lang="en-US" sz="650" dirty="0"/>
          </a:p>
        </p:txBody>
      </p:sp>
      <p:sp>
        <p:nvSpPr>
          <p:cNvPr id="30" name="Text 28"/>
          <p:cNvSpPr/>
          <p:nvPr/>
        </p:nvSpPr>
        <p:spPr>
          <a:xfrm>
            <a:off x="4715613" y="1371302"/>
            <a:ext cx="88107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이세돌 9단 4:1 격파</a:t>
            </a:r>
            <a:endParaRPr lang="en-US" sz="600" dirty="0"/>
          </a:p>
        </p:txBody>
      </p:sp>
      <p:sp>
        <p:nvSpPr>
          <p:cNvPr id="31" name="Text 29"/>
          <p:cNvSpPr/>
          <p:nvPr/>
        </p:nvSpPr>
        <p:spPr>
          <a:xfrm>
            <a:off x="5067300" y="1583829"/>
            <a:ext cx="177701" cy="177701"/>
          </a:xfrm>
          <a:prstGeom prst="roundRect">
            <a:avLst>
              <a:gd name="adj" fmla="val 514572"/>
            </a:avLst>
          </a:prstGeom>
          <a:solidFill>
            <a:srgbClr val="06B6D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6184850" y="2336750"/>
            <a:ext cx="177701" cy="177701"/>
          </a:xfrm>
          <a:prstGeom prst="roundRect">
            <a:avLst>
              <a:gd name="adj" fmla="val 514572"/>
            </a:avLst>
          </a:prstGeom>
          <a:solidFill>
            <a:srgbClr val="F43F5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5778401" y="2577852"/>
            <a:ext cx="990600" cy="488603"/>
          </a:xfrm>
          <a:prstGeom prst="roundRect">
            <a:avLst>
              <a:gd name="adj" fmla="val 1299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5833164" y="2641253"/>
            <a:ext cx="88107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43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2022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5833164" y="2799904"/>
            <a:ext cx="88107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ChatGPT 출시</a:t>
            </a:r>
            <a:endParaRPr lang="en-US" sz="650" dirty="0"/>
          </a:p>
        </p:txBody>
      </p:sp>
      <p:sp>
        <p:nvSpPr>
          <p:cNvPr id="36" name="Text 34"/>
          <p:cNvSpPr/>
          <p:nvPr/>
        </p:nvSpPr>
        <p:spPr>
          <a:xfrm>
            <a:off x="5833164" y="2917329"/>
            <a:ext cx="881074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6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2개월 1억 사용자</a:t>
            </a:r>
            <a:endParaRPr lang="en-US" sz="600" dirty="0"/>
          </a:p>
        </p:txBody>
      </p:sp>
      <p:sp>
        <p:nvSpPr>
          <p:cNvPr id="37" name="Text 35"/>
          <p:cNvSpPr/>
          <p:nvPr/>
        </p:nvSpPr>
        <p:spPr>
          <a:xfrm>
            <a:off x="6896100" y="863501"/>
            <a:ext cx="990600" cy="612428"/>
          </a:xfrm>
          <a:prstGeom prst="roundRect">
            <a:avLst>
              <a:gd name="adj" fmla="val 10369"/>
            </a:avLst>
          </a:prstGeom>
          <a:solidFill>
            <a:srgbClr val="FFFFFF"/>
          </a:solidFill>
          <a:ln w="19050">
            <a:solidFill>
              <a:srgbClr val="06B6D4"/>
            </a:solidFill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6970294" y="945952"/>
            <a:ext cx="84221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2025-26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970294" y="1104602"/>
            <a:ext cx="84221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6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에이전트 &amp; 대중화</a:t>
            </a:r>
            <a:endParaRPr lang="en-US" sz="650" dirty="0"/>
          </a:p>
        </p:txBody>
      </p:sp>
      <p:sp>
        <p:nvSpPr>
          <p:cNvPr id="40" name="Text 38"/>
          <p:cNvSpPr/>
          <p:nvPr/>
        </p:nvSpPr>
        <p:spPr>
          <a:xfrm>
            <a:off x="6970294" y="1222028"/>
            <a:ext cx="84221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00"/>
              </a:spcBef>
              <a:buNone/>
            </a:pPr>
            <a:r>
              <a:rPr lang="en-US" sz="5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ChatGPT 8억 명, 기업 40% 에이전트 도입</a:t>
            </a:r>
            <a:endParaRPr lang="en-US" sz="550" dirty="0"/>
          </a:p>
        </p:txBody>
      </p:sp>
      <p:sp>
        <p:nvSpPr>
          <p:cNvPr id="41" name="Text 39"/>
          <p:cNvSpPr/>
          <p:nvPr/>
        </p:nvSpPr>
        <p:spPr>
          <a:xfrm>
            <a:off x="7302550" y="1539329"/>
            <a:ext cx="177701" cy="177701"/>
          </a:xfrm>
          <a:prstGeom prst="roundRect">
            <a:avLst>
              <a:gd name="adj" fmla="val 514572"/>
            </a:avLst>
          </a:prstGeom>
          <a:solidFill>
            <a:srgbClr val="06B6D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381000" y="4588073"/>
            <a:ext cx="8382000" cy="326827"/>
          </a:xfrm>
          <a:prstGeom prst="roundRect">
            <a:avLst>
              <a:gd name="adj" fmla="val 19429"/>
            </a:avLst>
          </a:prstGeom>
          <a:solidFill>
            <a:srgbClr val="0B142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3350429" y="4689574"/>
            <a:ext cx="244299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76년</a:t>
            </a:r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의 연구 끝에, AI는 이제 우리 일상의 일부가 되었습니다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256032" y="4736592"/>
            <a:ext cx="8631936" cy="1828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500" b="1" dirty="0">
                <a:solidFill>
                  <a:srgbClr val="94A3B8"/>
                </a:solidFill>
              </a:rPr>
              <a:t>출처: </a:t>
            </a:r>
            <a:pPr indent="0" marL="0">
              <a:buNone/>
            </a:pPr>
            <a:r>
              <a:rPr lang="en-US" sz="500" u="sng" dirty="0">
                <a:solidFill>
                  <a:srgbClr val="06B6D4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Turing 1950</a:t>
            </a:r>
            <a:pPr indent="0" marL="0">
              <a:buNone/>
            </a:pPr>
            <a:r>
              <a:rPr lang="en-US" sz="500" dirty="0">
                <a:solidFill>
                  <a:srgbClr val="64748B"/>
                </a:solidFill>
              </a:rPr>
              <a:t> | </a:t>
            </a:r>
            <a:pPr indent="0" marL="0">
              <a:buNone/>
            </a:pPr>
            <a:r>
              <a:rPr lang="en-US" sz="500" u="sng" dirty="0">
                <a:solidFill>
                  <a:srgbClr val="06B6D4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Nature 2016</a:t>
            </a:r>
            <a:pPr indent="0" marL="0">
              <a:buNone/>
            </a:pPr>
            <a:r>
              <a:rPr lang="en-US" sz="500" dirty="0">
                <a:solidFill>
                  <a:srgbClr val="64748B"/>
                </a:solidFill>
              </a:rPr>
              <a:t> | </a:t>
            </a:r>
            <a:pPr indent="0" marL="0">
              <a:buNone/>
            </a:pPr>
            <a:r>
              <a:rPr lang="en-US" sz="500" u="sng" dirty="0">
                <a:solidFill>
                  <a:srgbClr val="06B6D4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Reuters 2023</a:t>
            </a:r>
            <a:pPr indent="0" marL="0">
              <a:buNone/>
            </a:pPr>
            <a:r>
              <a:rPr lang="en-US" sz="500" dirty="0">
                <a:solidFill>
                  <a:srgbClr val="64748B"/>
                </a:solidFill>
              </a:rPr>
              <a:t> | </a:t>
            </a:r>
            <a:pPr indent="0" marL="0">
              <a:buNone/>
            </a:pPr>
            <a:r>
              <a:rPr lang="en-US" sz="500" u="sng" dirty="0">
                <a:solidFill>
                  <a:srgbClr val="06B6D4"/>
                </a:solidFill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Gartner 2025</a:t>
            </a:r>
            <a:endParaRPr lang="en-US" sz="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660350"/>
          </a:xfrm>
          <a:prstGeom prst="rect">
            <a:avLst/>
          </a:prstGeom>
          <a:solidFill>
            <a:srgbClr val="0B142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81000" y="215801"/>
            <a:ext cx="228997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시장 규모 - 숫자로 보는 AI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8483650" y="0"/>
            <a:ext cx="660350" cy="660350"/>
          </a:xfrm>
          <a:prstGeom prst="rect">
            <a:avLst/>
          </a:prstGeom>
          <a:solidFill>
            <a:srgbClr val="06B6D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8736062" y="253901"/>
            <a:ext cx="15848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17450" y="787301"/>
            <a:ext cx="8508950" cy="1334393"/>
          </a:xfrm>
          <a:prstGeom prst="roundRect">
            <a:avLst>
              <a:gd name="adj" fmla="val 7614"/>
            </a:avLst>
          </a:prstGeom>
          <a:solidFill>
            <a:srgbClr val="0B142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22250" y="990451"/>
            <a:ext cx="1027807" cy="174427"/>
          </a:xfrm>
          <a:prstGeom prst="roundRect">
            <a:avLst>
              <a:gd name="adj" fmla="val 21843"/>
            </a:avLst>
          </a:prstGeom>
          <a:solidFill>
            <a:srgbClr val="06B6D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723751" y="1015752"/>
            <a:ext cx="841302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Gartner 2026 전망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622250" y="1241078"/>
            <a:ext cx="1570419" cy="5028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$2.52조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622250" y="1794718"/>
            <a:ext cx="1570419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글로벌 AI 지출 (2026)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7575054" y="1154609"/>
            <a:ext cx="946547" cy="599777"/>
          </a:xfrm>
          <a:prstGeom prst="roundRect">
            <a:avLst>
              <a:gd name="adj" fmla="val 12705"/>
            </a:avLst>
          </a:prstGeom>
          <a:solidFill>
            <a:srgbClr val="06B6D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7746843" y="1256109"/>
            <a:ext cx="60296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+44%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7746843" y="1548110"/>
            <a:ext cx="60296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CFFA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전년 대비 성장률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317450" y="2274094"/>
            <a:ext cx="4127450" cy="901601"/>
          </a:xfrm>
          <a:prstGeom prst="roundRect">
            <a:avLst>
              <a:gd name="adj" fmla="val 845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5400000">
              <a:srgbClr val="000000">
                <a:alpha val="6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336500" y="2274094"/>
            <a:ext cx="0" cy="901601"/>
          </a:xfrm>
          <a:prstGeom prst="line">
            <a:avLst/>
          </a:prstGeom>
          <a:noFill/>
          <a:ln w="38100">
            <a:solidFill>
              <a:srgbClr val="3B82F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3251" y="2426494"/>
            <a:ext cx="3808628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8억 명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33251" y="2689920"/>
            <a:ext cx="380862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8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ChatGPT 주간 활성 사용자 (2026.02)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533251" y="2851845"/>
            <a:ext cx="380862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 세계 인구 10명 중 1명이 매주 사용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4571851" y="2274094"/>
            <a:ext cx="4127450" cy="901601"/>
          </a:xfrm>
          <a:prstGeom prst="roundRect">
            <a:avLst>
              <a:gd name="adj" fmla="val 845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5400000">
              <a:srgbClr val="000000">
                <a:alpha val="6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Shape 18"/>
          <p:cNvSpPr/>
          <p:nvPr/>
        </p:nvSpPr>
        <p:spPr>
          <a:xfrm>
            <a:off x="4590901" y="2274094"/>
            <a:ext cx="0" cy="901601"/>
          </a:xfrm>
          <a:prstGeom prst="line">
            <a:avLst/>
          </a:prstGeom>
          <a:noFill/>
          <a:ln w="38100">
            <a:solidFill>
              <a:srgbClr val="F43F5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87652" y="2426494"/>
            <a:ext cx="3808628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F43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$131억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4787652" y="2689920"/>
            <a:ext cx="380862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8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OpenAI 연매출 (2025)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4787652" y="2896344"/>
            <a:ext cx="595313" cy="120551"/>
          </a:xfrm>
          <a:prstGeom prst="roundRect">
            <a:avLst>
              <a:gd name="adj" fmla="val 31605"/>
            </a:avLst>
          </a:prstGeom>
          <a:solidFill>
            <a:srgbClr val="F1F5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4851053" y="2908995"/>
            <a:ext cx="477881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43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YoY +254%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317450" y="3302645"/>
            <a:ext cx="4127450" cy="901601"/>
          </a:xfrm>
          <a:prstGeom prst="roundRect">
            <a:avLst>
              <a:gd name="adj" fmla="val 845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5400000">
              <a:srgbClr val="000000">
                <a:alpha val="6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Shape 24"/>
          <p:cNvSpPr/>
          <p:nvPr/>
        </p:nvSpPr>
        <p:spPr>
          <a:xfrm>
            <a:off x="336500" y="3302645"/>
            <a:ext cx="0" cy="901601"/>
          </a:xfrm>
          <a:prstGeom prst="line">
            <a:avLst/>
          </a:prstGeom>
          <a:noFill/>
          <a:ln w="38100">
            <a:solidFill>
              <a:srgbClr val="F59E0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33251" y="3455045"/>
            <a:ext cx="3808628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$6,440억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533251" y="3718471"/>
            <a:ext cx="380862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8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생성형 AI 지출 (2025, Gartner)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533251" y="3880396"/>
            <a:ext cx="380862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기업 AI 투자의 핵심 영역으로 급부상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4571851" y="3302645"/>
            <a:ext cx="4127450" cy="901601"/>
          </a:xfrm>
          <a:prstGeom prst="roundRect">
            <a:avLst>
              <a:gd name="adj" fmla="val 845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5400000">
              <a:srgbClr val="000000">
                <a:alpha val="6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Shape 29"/>
          <p:cNvSpPr/>
          <p:nvPr/>
        </p:nvSpPr>
        <p:spPr>
          <a:xfrm>
            <a:off x="4590901" y="3302645"/>
            <a:ext cx="0" cy="901601"/>
          </a:xfrm>
          <a:prstGeom prst="line">
            <a:avLst/>
          </a:prstGeom>
          <a:noFill/>
          <a:ln w="38100">
            <a:solidFill>
              <a:srgbClr val="06B6D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787652" y="3455045"/>
            <a:ext cx="3808628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$73.7억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4787652" y="3718471"/>
            <a:ext cx="380862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8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코딩 도구 시장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4787652" y="3924895"/>
            <a:ext cx="545902" cy="120551"/>
          </a:xfrm>
          <a:prstGeom prst="roundRect">
            <a:avLst>
              <a:gd name="adj" fmla="val 31605"/>
            </a:avLst>
          </a:prstGeom>
          <a:solidFill>
            <a:srgbClr val="F1F5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4851053" y="3937546"/>
            <a:ext cx="427482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YoY +50%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256032" y="4736592"/>
            <a:ext cx="8631936" cy="1828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500" b="1" dirty="0">
                <a:solidFill>
                  <a:srgbClr val="94A3B8"/>
                </a:solidFill>
              </a:rPr>
              <a:t>출처: </a:t>
            </a:r>
            <a:pPr indent="0" marL="0">
              <a:buNone/>
            </a:pPr>
            <a:r>
              <a:rPr lang="en-US" sz="500" u="sng" dirty="0">
                <a:solidFill>
                  <a:srgbClr val="06B6D4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Gartner AI Spending 2026</a:t>
            </a:r>
            <a:pPr indent="0" marL="0">
              <a:buNone/>
            </a:pPr>
            <a:r>
              <a:rPr lang="en-US" sz="500" dirty="0">
                <a:solidFill>
                  <a:srgbClr val="64748B"/>
                </a:solidFill>
              </a:rPr>
              <a:t> | </a:t>
            </a:r>
            <a:pPr indent="0" marL="0">
              <a:buNone/>
            </a:pPr>
            <a:r>
              <a:rPr lang="en-US" sz="500" u="sng" dirty="0">
                <a:solidFill>
                  <a:srgbClr val="06B6D4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 Business Weekly</a:t>
            </a:r>
            <a:pPr indent="0" marL="0">
              <a:buNone/>
            </a:pPr>
            <a:r>
              <a:rPr lang="en-US" sz="500" dirty="0">
                <a:solidFill>
                  <a:srgbClr val="64748B"/>
                </a:solidFill>
              </a:rPr>
              <a:t> | </a:t>
            </a:r>
            <a:pPr indent="0" marL="0">
              <a:buNone/>
            </a:pPr>
            <a:r>
              <a:rPr lang="en-US" sz="500" u="sng" dirty="0">
                <a:solidFill>
                  <a:srgbClr val="06B6D4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Sacra (OpenAI)</a:t>
            </a:r>
            <a:pPr indent="0" marL="0">
              <a:buNone/>
            </a:pPr>
            <a:r>
              <a:rPr lang="en-US" sz="500" dirty="0">
                <a:solidFill>
                  <a:srgbClr val="64748B"/>
                </a:solidFill>
              </a:rPr>
              <a:t> | </a:t>
            </a:r>
            <a:pPr indent="0" marL="0">
              <a:buNone/>
            </a:pPr>
            <a:r>
              <a:rPr lang="en-US" sz="500" u="sng" dirty="0">
                <a:solidFill>
                  <a:srgbClr val="06B6D4"/>
                </a:solidFill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Gartner GenAI 2025</a:t>
            </a:r>
            <a:endParaRPr lang="en-US" sz="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660350"/>
          </a:xfrm>
          <a:prstGeom prst="rect">
            <a:avLst/>
          </a:prstGeom>
          <a:solidFill>
            <a:srgbClr val="0B142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81000" y="215801"/>
            <a:ext cx="11427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산업별 AI 활용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8483650" y="0"/>
            <a:ext cx="660350" cy="660350"/>
          </a:xfrm>
          <a:prstGeom prst="rect">
            <a:avLst/>
          </a:prstGeom>
          <a:solidFill>
            <a:srgbClr val="06B6D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8736062" y="253901"/>
            <a:ext cx="15848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17450" y="787301"/>
            <a:ext cx="2751683" cy="355402"/>
          </a:xfrm>
          <a:prstGeom prst="roundRect">
            <a:avLst>
              <a:gd name="adj" fmla="val 21441"/>
            </a:avLst>
          </a:prstGeom>
          <a:solidFill>
            <a:srgbClr val="3B82F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19423" y="888802"/>
            <a:ext cx="254773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의료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17450" y="1244203"/>
            <a:ext cx="2751683" cy="937320"/>
          </a:xfrm>
          <a:prstGeom prst="roundRect">
            <a:avLst>
              <a:gd name="adj" fmla="val 813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5400000">
              <a:srgbClr val="000000">
                <a:alpha val="6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336500" y="1244203"/>
            <a:ext cx="0" cy="937320"/>
          </a:xfrm>
          <a:prstGeom prst="line">
            <a:avLst/>
          </a:prstGeom>
          <a:noFill/>
          <a:ln w="38100">
            <a:solidFill>
              <a:srgbClr val="3B82F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2501" y="1371154"/>
            <a:ext cx="250887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8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신약 파트너십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82501" y="1533079"/>
            <a:ext cx="250887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8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계약 규모 $150억+ (2025)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482501" y="1695004"/>
            <a:ext cx="2508876" cy="248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spcAft>
                <a:spcPts val="200"/>
              </a:spcAft>
              <a:buNone/>
            </a:pPr>
            <a:r>
              <a:rPr lang="en-US" sz="7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빅파마-AI 기업 간 신약 개발 협력이 폭발적으로 증가하며 파이프라인 가속화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482501" y="1968847"/>
            <a:ext cx="250887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Drug Target Review</a:t>
            </a:r>
            <a:endParaRPr lang="en-US" sz="600" dirty="0"/>
          </a:p>
        </p:txBody>
      </p:sp>
      <p:sp>
        <p:nvSpPr>
          <p:cNvPr id="14" name="Text 12"/>
          <p:cNvSpPr/>
          <p:nvPr/>
        </p:nvSpPr>
        <p:spPr>
          <a:xfrm>
            <a:off x="317450" y="2283023"/>
            <a:ext cx="2751683" cy="813048"/>
          </a:xfrm>
          <a:prstGeom prst="roundRect">
            <a:avLst>
              <a:gd name="adj" fmla="val 937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5400000">
              <a:srgbClr val="000000">
                <a:alpha val="6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336500" y="2283023"/>
            <a:ext cx="0" cy="813048"/>
          </a:xfrm>
          <a:prstGeom prst="line">
            <a:avLst/>
          </a:prstGeom>
          <a:noFill/>
          <a:ln w="38100">
            <a:solidFill>
              <a:srgbClr val="3B82F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2501" y="2409974"/>
            <a:ext cx="250887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8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FDA AI 도구 공식 인정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82501" y="2571899"/>
            <a:ext cx="250887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8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최초 공식 인정 (2025.12)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482501" y="2733824"/>
            <a:ext cx="2508876" cy="124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spcAft>
                <a:spcPts val="200"/>
              </a:spcAft>
              <a:buNone/>
            </a:pPr>
            <a:r>
              <a:rPr lang="en-US" sz="7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FDA가 AI 기반 임상 의사결정 도구를 공식 인정, 규제 패러다임 전환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482501" y="2883396"/>
            <a:ext cx="250887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FDA</a:t>
            </a:r>
            <a:endParaRPr lang="en-US" sz="600" dirty="0"/>
          </a:p>
        </p:txBody>
      </p:sp>
      <p:sp>
        <p:nvSpPr>
          <p:cNvPr id="20" name="Text 18"/>
          <p:cNvSpPr/>
          <p:nvPr/>
        </p:nvSpPr>
        <p:spPr>
          <a:xfrm>
            <a:off x="3196084" y="787301"/>
            <a:ext cx="2751683" cy="355402"/>
          </a:xfrm>
          <a:prstGeom prst="roundRect">
            <a:avLst>
              <a:gd name="adj" fmla="val 21441"/>
            </a:avLst>
          </a:prstGeom>
          <a:solidFill>
            <a:srgbClr val="06B6D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3298057" y="888802"/>
            <a:ext cx="254773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금융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196084" y="1244203"/>
            <a:ext cx="2751683" cy="813048"/>
          </a:xfrm>
          <a:prstGeom prst="roundRect">
            <a:avLst>
              <a:gd name="adj" fmla="val 937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5400000">
              <a:srgbClr val="000000">
                <a:alpha val="6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Shape 21"/>
          <p:cNvSpPr/>
          <p:nvPr/>
        </p:nvSpPr>
        <p:spPr>
          <a:xfrm>
            <a:off x="3215134" y="1244203"/>
            <a:ext cx="0" cy="813048"/>
          </a:xfrm>
          <a:prstGeom prst="line">
            <a:avLst/>
          </a:prstGeom>
          <a:noFill/>
          <a:ln w="38100">
            <a:solidFill>
              <a:srgbClr val="06B6D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361134" y="1371154"/>
            <a:ext cx="250887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8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사기 탐지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3361134" y="1533079"/>
            <a:ext cx="250887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800" b="1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은행 90%가 도입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3361134" y="1695004"/>
            <a:ext cx="2508876" cy="124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spcAft>
                <a:spcPts val="200"/>
              </a:spcAft>
              <a:buNone/>
            </a:pPr>
            <a:r>
              <a:rPr lang="en-US" sz="7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전체 은행의 2/3는 최근 2년 내 AI 사기 탐지 시스템을 도입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3361134" y="1844576"/>
            <a:ext cx="250887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Feedzai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3196084" y="2158752"/>
            <a:ext cx="2751683" cy="813048"/>
          </a:xfrm>
          <a:prstGeom prst="roundRect">
            <a:avLst>
              <a:gd name="adj" fmla="val 937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5400000">
              <a:srgbClr val="000000">
                <a:alpha val="6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Shape 27"/>
          <p:cNvSpPr/>
          <p:nvPr/>
        </p:nvSpPr>
        <p:spPr>
          <a:xfrm>
            <a:off x="3215134" y="2158752"/>
            <a:ext cx="0" cy="813048"/>
          </a:xfrm>
          <a:prstGeom prst="line">
            <a:avLst/>
          </a:prstGeom>
          <a:noFill/>
          <a:ln w="38100">
            <a:solidFill>
              <a:srgbClr val="06B6D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361134" y="2285702"/>
            <a:ext cx="250887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8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허위 거절 감소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3361134" y="2447627"/>
            <a:ext cx="250887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800" b="1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30%+ 감소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3361134" y="2609552"/>
            <a:ext cx="2508876" cy="124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spcAft>
                <a:spcPts val="200"/>
              </a:spcAft>
              <a:buNone/>
            </a:pPr>
            <a:r>
              <a:rPr lang="en-US" sz="7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도입으로 정상 거래를 사기로 잘못 차단하는 비율이 크게 감소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3361134" y="2759125"/>
            <a:ext cx="250887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IBM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6074718" y="787301"/>
            <a:ext cx="2751683" cy="355402"/>
          </a:xfrm>
          <a:prstGeom prst="roundRect">
            <a:avLst>
              <a:gd name="adj" fmla="val 21441"/>
            </a:avLst>
          </a:prstGeom>
          <a:solidFill>
            <a:srgbClr val="F59E0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6176690" y="888802"/>
            <a:ext cx="254773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제조 / 로봇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074718" y="1244203"/>
            <a:ext cx="2751683" cy="803523"/>
          </a:xfrm>
          <a:prstGeom prst="roundRect">
            <a:avLst>
              <a:gd name="adj" fmla="val 948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5400000">
              <a:srgbClr val="000000">
                <a:alpha val="6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Shape 35"/>
          <p:cNvSpPr/>
          <p:nvPr/>
        </p:nvSpPr>
        <p:spPr>
          <a:xfrm>
            <a:off x="6093768" y="1244203"/>
            <a:ext cx="0" cy="803523"/>
          </a:xfrm>
          <a:prstGeom prst="line">
            <a:avLst/>
          </a:prstGeom>
          <a:noFill/>
          <a:ln w="38100">
            <a:solidFill>
              <a:srgbClr val="F59E0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239768" y="1371154"/>
            <a:ext cx="250887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8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02 x BMW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6239768" y="1523554"/>
            <a:ext cx="250887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8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3만대 생산, 부품 9만개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6239768" y="1685479"/>
            <a:ext cx="2508876" cy="124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spcAft>
                <a:spcPts val="200"/>
              </a:spcAft>
              <a:buNone/>
            </a:pPr>
            <a:r>
              <a:rPr lang="en-US" sz="7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정확도 99%+ 달성. 휴머노이드 로봇이 자동차 조립라인에 실전 투입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6239768" y="1835051"/>
            <a:ext cx="250887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AI</a:t>
            </a:r>
            <a:endParaRPr lang="en-US" sz="600" dirty="0"/>
          </a:p>
        </p:txBody>
      </p:sp>
      <p:sp>
        <p:nvSpPr>
          <p:cNvPr id="42" name="Text 40"/>
          <p:cNvSpPr/>
          <p:nvPr/>
        </p:nvSpPr>
        <p:spPr>
          <a:xfrm>
            <a:off x="6074718" y="2149227"/>
            <a:ext cx="2751683" cy="813048"/>
          </a:xfrm>
          <a:prstGeom prst="roundRect">
            <a:avLst>
              <a:gd name="adj" fmla="val 937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5400000">
              <a:srgbClr val="000000">
                <a:alpha val="6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Shape 41"/>
          <p:cNvSpPr/>
          <p:nvPr/>
        </p:nvSpPr>
        <p:spPr>
          <a:xfrm>
            <a:off x="6093768" y="2149227"/>
            <a:ext cx="0" cy="813048"/>
          </a:xfrm>
          <a:prstGeom prst="line">
            <a:avLst/>
          </a:prstGeom>
          <a:noFill/>
          <a:ln w="38100">
            <a:solidFill>
              <a:srgbClr val="F59E0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239768" y="2276177"/>
            <a:ext cx="250887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8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BotQ 양산 계획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6239768" y="2438102"/>
            <a:ext cx="250887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8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 12,000대 생산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6239768" y="2600027"/>
            <a:ext cx="2508876" cy="124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0"/>
              </a:lnSpc>
              <a:spcAft>
                <a:spcPts val="200"/>
              </a:spcAft>
              <a:buNone/>
            </a:pPr>
            <a:r>
              <a:rPr lang="en-US" sz="7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4년 내 연간 10만대 규모로 확대 목표</a:t>
            </a:r>
            <a:endParaRPr lang="en-US" sz="700" dirty="0"/>
          </a:p>
        </p:txBody>
      </p:sp>
      <p:sp>
        <p:nvSpPr>
          <p:cNvPr id="47" name="Text 45"/>
          <p:cNvSpPr/>
          <p:nvPr/>
        </p:nvSpPr>
        <p:spPr>
          <a:xfrm>
            <a:off x="6239768" y="2749600"/>
            <a:ext cx="2508876" cy="85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AI</a:t>
            </a:r>
            <a:endParaRPr lang="en-US" sz="600" dirty="0"/>
          </a:p>
        </p:txBody>
      </p:sp>
      <p:sp>
        <p:nvSpPr>
          <p:cNvPr id="48" name="Text 46"/>
          <p:cNvSpPr/>
          <p:nvPr/>
        </p:nvSpPr>
        <p:spPr>
          <a:xfrm>
            <a:off x="256032" y="4736592"/>
            <a:ext cx="8631936" cy="1828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500" b="1" dirty="0">
                <a:solidFill>
                  <a:srgbClr val="94A3B8"/>
                </a:solidFill>
              </a:rPr>
              <a:t>출처: </a:t>
            </a:r>
            <a:pPr indent="0" marL="0">
              <a:buNone/>
            </a:pPr>
            <a:r>
              <a:rPr lang="en-US" sz="500" u="sng" dirty="0">
                <a:solidFill>
                  <a:srgbClr val="06B6D4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Drug Target Review</a:t>
            </a:r>
            <a:pPr indent="0" marL="0">
              <a:buNone/>
            </a:pPr>
            <a:r>
              <a:rPr lang="en-US" sz="500" dirty="0">
                <a:solidFill>
                  <a:srgbClr val="64748B"/>
                </a:solidFill>
              </a:rPr>
              <a:t> | </a:t>
            </a:r>
            <a:pPr indent="0" marL="0">
              <a:buNone/>
            </a:pPr>
            <a:r>
              <a:rPr lang="en-US" sz="500" u="sng" dirty="0">
                <a:solidFill>
                  <a:srgbClr val="06B6D4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FDA</a:t>
            </a:r>
            <a:pPr indent="0" marL="0">
              <a:buNone/>
            </a:pPr>
            <a:r>
              <a:rPr lang="en-US" sz="500" dirty="0">
                <a:solidFill>
                  <a:srgbClr val="64748B"/>
                </a:solidFill>
              </a:rPr>
              <a:t> | </a:t>
            </a:r>
            <a:pPr indent="0" marL="0">
              <a:buNone/>
            </a:pPr>
            <a:r>
              <a:rPr lang="en-US" sz="500" u="sng" dirty="0">
                <a:solidFill>
                  <a:srgbClr val="06B6D4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Feedzai</a:t>
            </a:r>
            <a:pPr indent="0" marL="0">
              <a:buNone/>
            </a:pPr>
            <a:r>
              <a:rPr lang="en-US" sz="500" dirty="0">
                <a:solidFill>
                  <a:srgbClr val="64748B"/>
                </a:solidFill>
              </a:rPr>
              <a:t> | </a:t>
            </a:r>
            <a:pPr indent="0" marL="0">
              <a:buNone/>
            </a:pPr>
            <a:r>
              <a:rPr lang="en-US" sz="500" u="sng" dirty="0">
                <a:solidFill>
                  <a:srgbClr val="06B6D4"/>
                </a:solidFill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Figure AI</a:t>
            </a:r>
            <a:endParaRPr lang="en-US" sz="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660350"/>
          </a:xfrm>
          <a:prstGeom prst="rect">
            <a:avLst/>
          </a:prstGeom>
          <a:solidFill>
            <a:srgbClr val="0B142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81000" y="215801"/>
            <a:ext cx="193839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교육 · 콘텐츠 · 일상의 AI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8483650" y="0"/>
            <a:ext cx="660350" cy="660350"/>
          </a:xfrm>
          <a:prstGeom prst="rect">
            <a:avLst/>
          </a:prstGeom>
          <a:solidFill>
            <a:srgbClr val="06B6D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8736062" y="253901"/>
            <a:ext cx="15848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17450" y="787301"/>
            <a:ext cx="1207145" cy="279202"/>
          </a:xfrm>
          <a:prstGeom prst="roundRect">
            <a:avLst>
              <a:gd name="adj" fmla="val 22743"/>
            </a:avLst>
          </a:prstGeom>
          <a:solidFill>
            <a:srgbClr val="0B142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44401" y="850702"/>
            <a:ext cx="97230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교육 (Education)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17450" y="1155353"/>
            <a:ext cx="2705100" cy="828377"/>
          </a:xfrm>
          <a:prstGeom prst="roundRect">
            <a:avLst>
              <a:gd name="adj" fmla="val 919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5400000">
              <a:srgbClr val="000000">
                <a:alpha val="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336500" y="1155353"/>
            <a:ext cx="0" cy="828377"/>
          </a:xfrm>
          <a:prstGeom prst="line">
            <a:avLst/>
          </a:prstGeom>
          <a:noFill/>
          <a:ln w="38100">
            <a:solidFill>
              <a:srgbClr val="3B82F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2501" y="1256854"/>
            <a:ext cx="246136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Khanmigo AI 튜터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82501" y="1437829"/>
            <a:ext cx="24613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사용자 10배 성장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482501" y="1577429"/>
            <a:ext cx="246136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11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6.8만 → 70만 (2025)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82501" y="1777454"/>
            <a:ext cx="246136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7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파트너 교육구 45개 → 380개+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317450" y="2059930"/>
            <a:ext cx="2705100" cy="828377"/>
          </a:xfrm>
          <a:prstGeom prst="roundRect">
            <a:avLst>
              <a:gd name="adj" fmla="val 919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5400000">
              <a:srgbClr val="000000">
                <a:alpha val="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336500" y="2059930"/>
            <a:ext cx="0" cy="828377"/>
          </a:xfrm>
          <a:prstGeom prst="line">
            <a:avLst/>
          </a:prstGeom>
          <a:noFill/>
          <a:ln w="38100">
            <a:solidFill>
              <a:srgbClr val="3B82F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2501" y="2161431"/>
            <a:ext cx="246136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교육 시장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82501" y="2342406"/>
            <a:ext cx="24613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글로벌 시장 규모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482501" y="2482007"/>
            <a:ext cx="246136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11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$69억 → $410억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82501" y="2682032"/>
            <a:ext cx="246136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7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2030년, CAGR 42.8%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3174950" y="787301"/>
            <a:ext cx="1182886" cy="279202"/>
          </a:xfrm>
          <a:prstGeom prst="roundRect">
            <a:avLst>
              <a:gd name="adj" fmla="val 22743"/>
            </a:avLst>
          </a:prstGeom>
          <a:solidFill>
            <a:srgbClr val="0B142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3301901" y="850702"/>
            <a:ext cx="94756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43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콘텐츠 (Content)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174950" y="1155353"/>
            <a:ext cx="2705100" cy="641152"/>
          </a:xfrm>
          <a:prstGeom prst="roundRect">
            <a:avLst>
              <a:gd name="adj" fmla="val 118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5400000">
              <a:srgbClr val="000000">
                <a:alpha val="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Shape 21"/>
          <p:cNvSpPr/>
          <p:nvPr/>
        </p:nvSpPr>
        <p:spPr>
          <a:xfrm>
            <a:off x="3194000" y="1155353"/>
            <a:ext cx="0" cy="641152"/>
          </a:xfrm>
          <a:prstGeom prst="line">
            <a:avLst/>
          </a:prstGeom>
          <a:noFill/>
          <a:ln w="38100">
            <a:solidFill>
              <a:srgbClr val="F43F5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340001" y="1256854"/>
            <a:ext cx="246136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Sora 2 (OpenAI)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340001" y="1428304"/>
            <a:ext cx="24613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최대 20초 1080p 영상 생성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3340001" y="1580704"/>
            <a:ext cx="24613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750" b="1" dirty="0">
                <a:solidFill>
                  <a:srgbClr val="F43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오디오 동기화 (2025.09)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3174950" y="1872704"/>
            <a:ext cx="2705100" cy="641152"/>
          </a:xfrm>
          <a:prstGeom prst="roundRect">
            <a:avLst>
              <a:gd name="adj" fmla="val 118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5400000">
              <a:srgbClr val="000000">
                <a:alpha val="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Shape 26"/>
          <p:cNvSpPr/>
          <p:nvPr/>
        </p:nvSpPr>
        <p:spPr>
          <a:xfrm>
            <a:off x="3194000" y="1872704"/>
            <a:ext cx="0" cy="641152"/>
          </a:xfrm>
          <a:prstGeom prst="line">
            <a:avLst/>
          </a:prstGeom>
          <a:noFill/>
          <a:ln w="38100">
            <a:solidFill>
              <a:srgbClr val="F43F5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340001" y="1974205"/>
            <a:ext cx="246136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Disney × Sora 2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340001" y="2145655"/>
            <a:ext cx="24613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$10억 투자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3340001" y="2298055"/>
            <a:ext cx="24613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750" b="1" dirty="0">
                <a:solidFill>
                  <a:srgbClr val="F43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200+ 캐릭터 IP 제공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3174950" y="2590056"/>
            <a:ext cx="2705100" cy="641152"/>
          </a:xfrm>
          <a:prstGeom prst="roundRect">
            <a:avLst>
              <a:gd name="adj" fmla="val 118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5400000">
              <a:srgbClr val="000000">
                <a:alpha val="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Shape 31"/>
          <p:cNvSpPr/>
          <p:nvPr/>
        </p:nvSpPr>
        <p:spPr>
          <a:xfrm>
            <a:off x="3194000" y="2590056"/>
            <a:ext cx="0" cy="641152"/>
          </a:xfrm>
          <a:prstGeom prst="line">
            <a:avLst/>
          </a:prstGeom>
          <a:noFill/>
          <a:ln w="38100">
            <a:solidFill>
              <a:srgbClr val="F43F5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340001" y="2691557"/>
            <a:ext cx="246136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Veo 3 (Google)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3340001" y="2863007"/>
            <a:ext cx="24613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텍스트 → 영상 + 오디오</a:t>
            </a:r>
            <a:endParaRPr lang="en-US" sz="750" dirty="0"/>
          </a:p>
        </p:txBody>
      </p:sp>
      <p:sp>
        <p:nvSpPr>
          <p:cNvPr id="36" name="Text 34"/>
          <p:cNvSpPr/>
          <p:nvPr/>
        </p:nvSpPr>
        <p:spPr>
          <a:xfrm>
            <a:off x="3340001" y="3015407"/>
            <a:ext cx="24613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750" b="1" dirty="0">
                <a:solidFill>
                  <a:srgbClr val="F43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통합 생성 지원</a:t>
            </a:r>
            <a:endParaRPr lang="en-US" sz="750" dirty="0"/>
          </a:p>
        </p:txBody>
      </p:sp>
      <p:sp>
        <p:nvSpPr>
          <p:cNvPr id="37" name="Text 35"/>
          <p:cNvSpPr/>
          <p:nvPr/>
        </p:nvSpPr>
        <p:spPr>
          <a:xfrm>
            <a:off x="6032450" y="787301"/>
            <a:ext cx="1157883" cy="279202"/>
          </a:xfrm>
          <a:prstGeom prst="roundRect">
            <a:avLst>
              <a:gd name="adj" fmla="val 22743"/>
            </a:avLst>
          </a:prstGeom>
          <a:solidFill>
            <a:srgbClr val="0B142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6159401" y="850702"/>
            <a:ext cx="92206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일상 (Daily Life)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6032450" y="1155353"/>
            <a:ext cx="2705100" cy="818852"/>
          </a:xfrm>
          <a:prstGeom prst="roundRect">
            <a:avLst>
              <a:gd name="adj" fmla="val 93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5400000">
              <a:srgbClr val="000000">
                <a:alpha val="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Shape 38"/>
          <p:cNvSpPr/>
          <p:nvPr/>
        </p:nvSpPr>
        <p:spPr>
          <a:xfrm>
            <a:off x="6051500" y="1155353"/>
            <a:ext cx="0" cy="818852"/>
          </a:xfrm>
          <a:prstGeom prst="line">
            <a:avLst/>
          </a:prstGeom>
          <a:noFill/>
          <a:ln w="38100">
            <a:solidFill>
              <a:srgbClr val="06B6D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197501" y="1256854"/>
            <a:ext cx="2461361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ChatGPT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197501" y="1428304"/>
            <a:ext cx="24613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주간 활성 사용자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6197501" y="1567904"/>
            <a:ext cx="246136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1100" b="1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8억 명 (2026.02)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6197501" y="1767929"/>
            <a:ext cx="246136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7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 세계 인구 10명 중 1명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6032450" y="2050405"/>
            <a:ext cx="2705100" cy="818852"/>
          </a:xfrm>
          <a:prstGeom prst="roundRect">
            <a:avLst>
              <a:gd name="adj" fmla="val 93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5400000">
              <a:srgbClr val="000000">
                <a:alpha val="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Shape 44"/>
          <p:cNvSpPr/>
          <p:nvPr/>
        </p:nvSpPr>
        <p:spPr>
          <a:xfrm>
            <a:off x="6051500" y="2050405"/>
            <a:ext cx="0" cy="818852"/>
          </a:xfrm>
          <a:prstGeom prst="line">
            <a:avLst/>
          </a:prstGeom>
          <a:noFill/>
          <a:ln w="38100">
            <a:solidFill>
              <a:srgbClr val="06B6D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197501" y="2151906"/>
            <a:ext cx="246136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개발자 AI 도구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6197501" y="2332881"/>
            <a:ext cx="246136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정기 사용 비율</a:t>
            </a:r>
            <a:endParaRPr lang="en-US" sz="750" dirty="0"/>
          </a:p>
        </p:txBody>
      </p:sp>
      <p:sp>
        <p:nvSpPr>
          <p:cNvPr id="49" name="Text 47"/>
          <p:cNvSpPr/>
          <p:nvPr/>
        </p:nvSpPr>
        <p:spPr>
          <a:xfrm>
            <a:off x="6197501" y="2472482"/>
            <a:ext cx="246136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1100" b="1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85% (2025)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6197501" y="2662982"/>
            <a:ext cx="246136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7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개발 생산성 도구 필수화</a:t>
            </a:r>
            <a:endParaRPr lang="en-US" sz="700" dirty="0"/>
          </a:p>
        </p:txBody>
      </p:sp>
      <p:sp>
        <p:nvSpPr>
          <p:cNvPr id="51" name="Text 49"/>
          <p:cNvSpPr/>
          <p:nvPr/>
        </p:nvSpPr>
        <p:spPr>
          <a:xfrm>
            <a:off x="256032" y="4736592"/>
            <a:ext cx="8631936" cy="1828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500" b="1" dirty="0">
                <a:solidFill>
                  <a:srgbClr val="94A3B8"/>
                </a:solidFill>
              </a:rPr>
              <a:t>출처: </a:t>
            </a:r>
            <a:pPr indent="0" marL="0">
              <a:buNone/>
            </a:pPr>
            <a:r>
              <a:rPr lang="en-US" sz="500" u="sng" dirty="0">
                <a:solidFill>
                  <a:srgbClr val="06B6D4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Global Society (Khanmigo)</a:t>
            </a:r>
            <a:pPr indent="0" marL="0">
              <a:buNone/>
            </a:pPr>
            <a:r>
              <a:rPr lang="en-US" sz="500" dirty="0">
                <a:solidFill>
                  <a:srgbClr val="64748B"/>
                </a:solidFill>
              </a:rPr>
              <a:t> | </a:t>
            </a:r>
            <a:pPr indent="0" marL="0">
              <a:buNone/>
            </a:pPr>
            <a:r>
              <a:rPr lang="en-US" sz="500" u="sng" dirty="0">
                <a:solidFill>
                  <a:srgbClr val="06B6D4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OpenAI Sora 2</a:t>
            </a:r>
            <a:pPr indent="0" marL="0">
              <a:buNone/>
            </a:pPr>
            <a:r>
              <a:rPr lang="en-US" sz="500" dirty="0">
                <a:solidFill>
                  <a:srgbClr val="64748B"/>
                </a:solidFill>
              </a:rPr>
              <a:t> | </a:t>
            </a:r>
            <a:pPr indent="0" marL="0">
              <a:buNone/>
            </a:pPr>
            <a:r>
              <a:rPr lang="en-US" sz="500" u="sng" dirty="0">
                <a:solidFill>
                  <a:srgbClr val="06B6D4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WaveSpeed (Disney)</a:t>
            </a:r>
            <a:pPr indent="0" marL="0">
              <a:buNone/>
            </a:pPr>
            <a:r>
              <a:rPr lang="en-US" sz="500" dirty="0">
                <a:solidFill>
                  <a:srgbClr val="64748B"/>
                </a:solidFill>
              </a:rPr>
              <a:t> | </a:t>
            </a:r>
            <a:pPr indent="0" marL="0">
              <a:buNone/>
            </a:pPr>
            <a:r>
              <a:rPr lang="en-US" sz="500" u="sng" dirty="0">
                <a:solidFill>
                  <a:srgbClr val="06B6D4"/>
                </a:solidFill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 Business Weekly</a:t>
            </a:r>
            <a:endParaRPr lang="en-US" sz="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660350"/>
          </a:xfrm>
          <a:prstGeom prst="rect">
            <a:avLst/>
          </a:prstGeom>
          <a:solidFill>
            <a:srgbClr val="0B142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81000" y="215801"/>
            <a:ext cx="15591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코딩 &amp; 업무 혁신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8483650" y="0"/>
            <a:ext cx="660350" cy="660350"/>
          </a:xfrm>
          <a:prstGeom prst="rect">
            <a:avLst/>
          </a:prstGeom>
          <a:solidFill>
            <a:srgbClr val="06B6D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8736062" y="253901"/>
            <a:ext cx="15848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17450" y="787301"/>
            <a:ext cx="890736" cy="279202"/>
          </a:xfrm>
          <a:prstGeom prst="roundRect">
            <a:avLst>
              <a:gd name="adj" fmla="val 22743"/>
            </a:avLst>
          </a:prstGeom>
          <a:solidFill>
            <a:srgbClr val="0B142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44401" y="850702"/>
            <a:ext cx="64957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코딩 도구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17450" y="1155353"/>
            <a:ext cx="4127450" cy="66675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5400000">
              <a:srgbClr val="000000">
                <a:alpha val="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336500" y="1155353"/>
            <a:ext cx="0" cy="666750"/>
          </a:xfrm>
          <a:prstGeom prst="line">
            <a:avLst/>
          </a:prstGeom>
          <a:noFill/>
          <a:ln w="38100">
            <a:solidFill>
              <a:srgbClr val="3B82F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5151" y="1269653"/>
            <a:ext cx="388635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Copilot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95151" y="1441103"/>
            <a:ext cx="388635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2,000만+ 사용자, 시장 점유율 42%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495151" y="1593503"/>
            <a:ext cx="388635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75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코딩 도구 시장 1위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317450" y="1898303"/>
            <a:ext cx="4127450" cy="66675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5400000">
              <a:srgbClr val="000000">
                <a:alpha val="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Shape 12"/>
          <p:cNvSpPr/>
          <p:nvPr/>
        </p:nvSpPr>
        <p:spPr>
          <a:xfrm>
            <a:off x="336500" y="1898303"/>
            <a:ext cx="0" cy="666750"/>
          </a:xfrm>
          <a:prstGeom prst="line">
            <a:avLst/>
          </a:prstGeom>
          <a:noFill/>
          <a:ln w="38100">
            <a:solidFill>
              <a:srgbClr val="3B82F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95151" y="2012603"/>
            <a:ext cx="388635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Cursor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95151" y="2184053"/>
            <a:ext cx="388635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기업가치 $293억, ARR $10억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95151" y="2336453"/>
            <a:ext cx="388635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75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출시 24개월 만의 성과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317450" y="2641253"/>
            <a:ext cx="4127450" cy="66675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5400000">
              <a:srgbClr val="000000">
                <a:alpha val="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Shape 17"/>
          <p:cNvSpPr/>
          <p:nvPr/>
        </p:nvSpPr>
        <p:spPr>
          <a:xfrm>
            <a:off x="336500" y="2641253"/>
            <a:ext cx="0" cy="666750"/>
          </a:xfrm>
          <a:prstGeom prst="line">
            <a:avLst/>
          </a:prstGeom>
          <a:noFill/>
          <a:ln w="38100">
            <a:solidFill>
              <a:srgbClr val="3B82F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95151" y="2755553"/>
            <a:ext cx="388635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95151" y="2927003"/>
            <a:ext cx="388635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 $10억 돌파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495151" y="3079403"/>
            <a:ext cx="388635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75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출시 9개월 -- 역대 최단 기록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4635401" y="787301"/>
            <a:ext cx="1383804" cy="279202"/>
          </a:xfrm>
          <a:prstGeom prst="roundRect">
            <a:avLst>
              <a:gd name="adj" fmla="val 22743"/>
            </a:avLst>
          </a:prstGeom>
          <a:solidFill>
            <a:srgbClr val="0B142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4762351" y="850702"/>
            <a:ext cx="115250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업무 AI (Enterprise)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635401" y="1155353"/>
            <a:ext cx="4127450" cy="657225"/>
          </a:xfrm>
          <a:prstGeom prst="roundRect">
            <a:avLst>
              <a:gd name="adj" fmla="val 1159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5400000">
              <a:srgbClr val="000000">
                <a:alpha val="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Shape 24"/>
          <p:cNvSpPr/>
          <p:nvPr/>
        </p:nvSpPr>
        <p:spPr>
          <a:xfrm>
            <a:off x="4654451" y="1155353"/>
            <a:ext cx="0" cy="657225"/>
          </a:xfrm>
          <a:prstGeom prst="line">
            <a:avLst/>
          </a:prstGeom>
          <a:noFill/>
          <a:ln w="38100">
            <a:solidFill>
              <a:srgbClr val="F59E0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813102" y="1269653"/>
            <a:ext cx="388635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MS 365 Copilot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813102" y="1441103"/>
            <a:ext cx="3886352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ROI 317%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4813102" y="1583978"/>
            <a:ext cx="388635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75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Forrester TEI Study 기준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4635401" y="1888778"/>
            <a:ext cx="4127450" cy="66675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5400000">
              <a:srgbClr val="000000">
                <a:alpha val="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Shape 29"/>
          <p:cNvSpPr/>
          <p:nvPr/>
        </p:nvSpPr>
        <p:spPr>
          <a:xfrm>
            <a:off x="4654451" y="1888778"/>
            <a:ext cx="0" cy="666750"/>
          </a:xfrm>
          <a:prstGeom prst="line">
            <a:avLst/>
          </a:prstGeom>
          <a:noFill/>
          <a:ln w="38100">
            <a:solidFill>
              <a:srgbClr val="F59E0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813102" y="2003078"/>
            <a:ext cx="388635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Salesforce Agentforce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813102" y="2174528"/>
            <a:ext cx="388635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ARR $11억, 고객 문의 84% 자동 해결</a:t>
            </a:r>
            <a:endParaRPr lang="en-US" sz="750" dirty="0"/>
          </a:p>
        </p:txBody>
      </p:sp>
      <p:sp>
        <p:nvSpPr>
          <p:cNvPr id="34" name="Text 32"/>
          <p:cNvSpPr/>
          <p:nvPr/>
        </p:nvSpPr>
        <p:spPr>
          <a:xfrm>
            <a:off x="4813102" y="2326928"/>
            <a:ext cx="388635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75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기업 CRM AI 선두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4635401" y="2631728"/>
            <a:ext cx="4127450" cy="66675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5400000">
              <a:srgbClr val="000000">
                <a:alpha val="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Shape 34"/>
          <p:cNvSpPr/>
          <p:nvPr/>
        </p:nvSpPr>
        <p:spPr>
          <a:xfrm>
            <a:off x="4654451" y="2631728"/>
            <a:ext cx="0" cy="666750"/>
          </a:xfrm>
          <a:prstGeom prst="line">
            <a:avLst/>
          </a:prstGeom>
          <a:noFill/>
          <a:ln w="38100">
            <a:solidFill>
              <a:srgbClr val="F59E0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813102" y="2746028"/>
            <a:ext cx="388635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ServiceNow Now Assist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4813102" y="2917478"/>
            <a:ext cx="388635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ACV $6억+</a:t>
            </a:r>
            <a:endParaRPr lang="en-US" sz="750" dirty="0"/>
          </a:p>
        </p:txBody>
      </p:sp>
      <p:sp>
        <p:nvSpPr>
          <p:cNvPr id="39" name="Text 37"/>
          <p:cNvSpPr/>
          <p:nvPr/>
        </p:nvSpPr>
        <p:spPr>
          <a:xfrm>
            <a:off x="4813102" y="3069878"/>
            <a:ext cx="388635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75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서비스 관리 AI 자동화</a:t>
            </a:r>
            <a:endParaRPr lang="en-US" sz="750" dirty="0"/>
          </a:p>
        </p:txBody>
      </p:sp>
      <p:sp>
        <p:nvSpPr>
          <p:cNvPr id="40" name="Text 38"/>
          <p:cNvSpPr/>
          <p:nvPr/>
        </p:nvSpPr>
        <p:spPr>
          <a:xfrm>
            <a:off x="317450" y="4613374"/>
            <a:ext cx="8508950" cy="377726"/>
          </a:xfrm>
          <a:prstGeom prst="roundRect">
            <a:avLst>
              <a:gd name="adj" fmla="val 20173"/>
            </a:avLst>
          </a:prstGeom>
          <a:solidFill>
            <a:srgbClr val="0B142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439574" y="4740325"/>
            <a:ext cx="826470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코딩 도구 시장: $73.7억 (YoY +50%)  |  개발자 85%가 AI 도구 정기 사용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256032" y="4736592"/>
            <a:ext cx="8631936" cy="1828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500" b="1" dirty="0">
                <a:solidFill>
                  <a:srgbClr val="94A3B8"/>
                </a:solidFill>
              </a:rPr>
              <a:t>출처: </a:t>
            </a:r>
            <a:pPr indent="0" marL="0">
              <a:buNone/>
            </a:pPr>
            <a:r>
              <a:rPr lang="en-US" sz="500" u="sng" dirty="0">
                <a:solidFill>
                  <a:srgbClr val="06B6D4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Quantumrun (Copilot)</a:t>
            </a:r>
            <a:pPr indent="0" marL="0">
              <a:buNone/>
            </a:pPr>
            <a:r>
              <a:rPr lang="en-US" sz="500" dirty="0">
                <a:solidFill>
                  <a:srgbClr val="64748B"/>
                </a:solidFill>
              </a:rPr>
              <a:t> | </a:t>
            </a:r>
            <a:pPr indent="0" marL="0">
              <a:buNone/>
            </a:pPr>
            <a:r>
              <a:rPr lang="en-US" sz="500" u="sng" dirty="0">
                <a:solidFill>
                  <a:srgbClr val="06B6D4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Digidai (Cursor)</a:t>
            </a:r>
            <a:pPr indent="0" marL="0">
              <a:buNone/>
            </a:pPr>
            <a:r>
              <a:rPr lang="en-US" sz="500" dirty="0">
                <a:solidFill>
                  <a:srgbClr val="64748B"/>
                </a:solidFill>
              </a:rPr>
              <a:t> | </a:t>
            </a:r>
            <a:pPr indent="0" marL="0">
              <a:buNone/>
            </a:pPr>
            <a:r>
              <a:rPr lang="en-US" sz="500" u="sng" dirty="0">
                <a:solidFill>
                  <a:srgbClr val="06B6D4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Forrester TEI (MS Copilot)</a:t>
            </a:r>
            <a:pPr indent="0" marL="0">
              <a:buNone/>
            </a:pPr>
            <a:r>
              <a:rPr lang="en-US" sz="500" dirty="0">
                <a:solidFill>
                  <a:srgbClr val="64748B"/>
                </a:solidFill>
              </a:rPr>
              <a:t> | </a:t>
            </a:r>
            <a:pPr indent="0" marL="0">
              <a:buNone/>
            </a:pPr>
            <a:r>
              <a:rPr lang="en-US" sz="500" u="sng" dirty="0">
                <a:solidFill>
                  <a:srgbClr val="06B6D4"/>
                </a:solidFill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Salesforce</a:t>
            </a:r>
            <a:endParaRPr lang="en-US" sz="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660350"/>
          </a:xfrm>
          <a:prstGeom prst="rect">
            <a:avLst/>
          </a:prstGeom>
          <a:solidFill>
            <a:srgbClr val="0B142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81000" y="215801"/>
            <a:ext cx="97473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한국 AI 현황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8483650" y="0"/>
            <a:ext cx="660350" cy="660350"/>
          </a:xfrm>
          <a:prstGeom prst="rect">
            <a:avLst/>
          </a:prstGeom>
          <a:solidFill>
            <a:srgbClr val="06B6D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8736062" y="253901"/>
            <a:ext cx="15848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17450" y="787301"/>
            <a:ext cx="4178201" cy="1050578"/>
          </a:xfrm>
          <a:prstGeom prst="roundRect">
            <a:avLst>
              <a:gd name="adj" fmla="val 9671"/>
            </a:avLst>
          </a:prstGeom>
          <a:solidFill>
            <a:srgbClr val="06B6D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82882" y="965002"/>
            <a:ext cx="384733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750" dirty="0">
                <a:solidFill>
                  <a:srgbClr val="E0F2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기본법 시행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482882" y="1130052"/>
            <a:ext cx="3847338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2026.01.22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82882" y="1517303"/>
            <a:ext cx="384733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500"/>
              </a:spcBef>
              <a:buNone/>
            </a:pPr>
            <a:r>
              <a:rPr lang="en-US" sz="800" dirty="0">
                <a:solidFill>
                  <a:srgbClr val="E0F2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세계 최초 전면 적용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4648051" y="787301"/>
            <a:ext cx="4178350" cy="1050578"/>
          </a:xfrm>
          <a:prstGeom prst="roundRect">
            <a:avLst>
              <a:gd name="adj" fmla="val 9671"/>
            </a:avLst>
          </a:prstGeom>
          <a:solidFill>
            <a:srgbClr val="F43F5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4813481" y="965002"/>
            <a:ext cx="384749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750" dirty="0">
                <a:solidFill>
                  <a:srgbClr val="FFE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정부 AI 투자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4813481" y="1130052"/>
            <a:ext cx="384749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100조 원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4813481" y="1536353"/>
            <a:ext cx="384749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500"/>
              </a:spcBef>
              <a:buNone/>
            </a:pPr>
            <a:r>
              <a:rPr lang="en-US" sz="800" dirty="0">
                <a:solidFill>
                  <a:srgbClr val="FFE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5년간 (약 $715억)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317450" y="2412950"/>
            <a:ext cx="1145679" cy="279202"/>
          </a:xfrm>
          <a:prstGeom prst="roundRect">
            <a:avLst>
              <a:gd name="adj" fmla="val 22743"/>
            </a:avLst>
          </a:prstGeom>
          <a:solidFill>
            <a:srgbClr val="0B142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444401" y="2476351"/>
            <a:ext cx="90961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한국 기업 AI 현황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17450" y="2730401"/>
            <a:ext cx="2031950" cy="857101"/>
          </a:xfrm>
          <a:prstGeom prst="roundRect">
            <a:avLst>
              <a:gd name="adj" fmla="val 88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5400000">
              <a:srgbClr val="000000">
                <a:alpha val="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Shape 15"/>
          <p:cNvSpPr/>
          <p:nvPr/>
        </p:nvSpPr>
        <p:spPr>
          <a:xfrm>
            <a:off x="336500" y="2730401"/>
            <a:ext cx="0" cy="857101"/>
          </a:xfrm>
          <a:prstGeom prst="line">
            <a:avLst/>
          </a:prstGeom>
          <a:noFill/>
          <a:ln w="38100">
            <a:solidFill>
              <a:srgbClr val="3B82F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7950" y="2857351"/>
            <a:ext cx="172283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삼성전자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07950" y="3050977"/>
            <a:ext cx="172283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갤럭시 S26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507950" y="3203377"/>
            <a:ext cx="172283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7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에이전틱 AI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507950" y="3355777"/>
            <a:ext cx="172283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2026.02 출시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2476351" y="2730401"/>
            <a:ext cx="2032099" cy="857101"/>
          </a:xfrm>
          <a:prstGeom prst="roundRect">
            <a:avLst>
              <a:gd name="adj" fmla="val 88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5400000">
              <a:srgbClr val="000000">
                <a:alpha val="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Shape 21"/>
          <p:cNvSpPr/>
          <p:nvPr/>
        </p:nvSpPr>
        <p:spPr>
          <a:xfrm>
            <a:off x="2495401" y="2730401"/>
            <a:ext cx="0" cy="857101"/>
          </a:xfrm>
          <a:prstGeom prst="line">
            <a:avLst/>
          </a:prstGeom>
          <a:noFill/>
          <a:ln w="38100">
            <a:solidFill>
              <a:srgbClr val="06B6D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666851" y="2857351"/>
            <a:ext cx="172298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LG AI Research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2666851" y="3041452"/>
            <a:ext cx="1722983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K-EXAONE 236B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2666851" y="3184327"/>
            <a:ext cx="172298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7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글로벌 Top 10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2666851" y="3336727"/>
            <a:ext cx="1722983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한국어 특화 LLM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4635401" y="2730401"/>
            <a:ext cx="2031950" cy="857101"/>
          </a:xfrm>
          <a:prstGeom prst="roundRect">
            <a:avLst>
              <a:gd name="adj" fmla="val 88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5400000">
              <a:srgbClr val="000000">
                <a:alpha val="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Shape 27"/>
          <p:cNvSpPr/>
          <p:nvPr/>
        </p:nvSpPr>
        <p:spPr>
          <a:xfrm>
            <a:off x="4654451" y="2730401"/>
            <a:ext cx="0" cy="857101"/>
          </a:xfrm>
          <a:prstGeom prst="line">
            <a:avLst/>
          </a:prstGeom>
          <a:noFill/>
          <a:ln w="38100">
            <a:solidFill>
              <a:srgbClr val="3B82F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825901" y="2857351"/>
            <a:ext cx="172283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네이버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825901" y="3050977"/>
            <a:ext cx="172283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HyperCLOVA X OMNI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4825901" y="3193852"/>
            <a:ext cx="1722831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7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SEED 오픈소스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4825901" y="3346252"/>
            <a:ext cx="172283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멀티모달 + 오픈 생태계</a:t>
            </a:r>
            <a:endParaRPr lang="en-US" sz="650" dirty="0"/>
          </a:p>
        </p:txBody>
      </p:sp>
      <p:sp>
        <p:nvSpPr>
          <p:cNvPr id="34" name="Text 32"/>
          <p:cNvSpPr/>
          <p:nvPr/>
        </p:nvSpPr>
        <p:spPr>
          <a:xfrm>
            <a:off x="6794302" y="2730401"/>
            <a:ext cx="2032099" cy="857101"/>
          </a:xfrm>
          <a:prstGeom prst="roundRect">
            <a:avLst>
              <a:gd name="adj" fmla="val 889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5400000">
              <a:srgbClr val="000000">
                <a:alpha val="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Shape 33"/>
          <p:cNvSpPr/>
          <p:nvPr/>
        </p:nvSpPr>
        <p:spPr>
          <a:xfrm>
            <a:off x="6813352" y="2730401"/>
            <a:ext cx="0" cy="857101"/>
          </a:xfrm>
          <a:prstGeom prst="line">
            <a:avLst/>
          </a:prstGeom>
          <a:noFill/>
          <a:ln w="38100">
            <a:solidFill>
              <a:srgbClr val="06B6D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984802" y="2857351"/>
            <a:ext cx="172298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SKT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6984802" y="3041452"/>
            <a:ext cx="1722983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A.X K1 500B</a:t>
            </a:r>
            <a:endParaRPr lang="en-US" sz="750" dirty="0"/>
          </a:p>
        </p:txBody>
      </p:sp>
      <p:sp>
        <p:nvSpPr>
          <p:cNvPr id="38" name="Text 36"/>
          <p:cNvSpPr/>
          <p:nvPr/>
        </p:nvSpPr>
        <p:spPr>
          <a:xfrm>
            <a:off x="6984802" y="3184327"/>
            <a:ext cx="172298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7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에이닷 MAU 1,000만</a:t>
            </a:r>
            <a:endParaRPr lang="en-US" sz="750" dirty="0"/>
          </a:p>
        </p:txBody>
      </p:sp>
      <p:sp>
        <p:nvSpPr>
          <p:cNvPr id="39" name="Text 37"/>
          <p:cNvSpPr/>
          <p:nvPr/>
        </p:nvSpPr>
        <p:spPr>
          <a:xfrm>
            <a:off x="6984802" y="3336727"/>
            <a:ext cx="1722983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대규모 AI 서비스</a:t>
            </a:r>
            <a:endParaRPr lang="en-US" sz="650" dirty="0"/>
          </a:p>
        </p:txBody>
      </p:sp>
      <p:sp>
        <p:nvSpPr>
          <p:cNvPr id="40" name="Text 38"/>
          <p:cNvSpPr/>
          <p:nvPr/>
        </p:nvSpPr>
        <p:spPr>
          <a:xfrm>
            <a:off x="256032" y="4736592"/>
            <a:ext cx="8631936" cy="1828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500" b="1" dirty="0">
                <a:solidFill>
                  <a:srgbClr val="94A3B8"/>
                </a:solidFill>
              </a:rPr>
              <a:t>출처: </a:t>
            </a:r>
            <a:pPr indent="0" marL="0">
              <a:buNone/>
            </a:pPr>
            <a:r>
              <a:rPr lang="en-US" sz="500" u="sng" dirty="0">
                <a:solidFill>
                  <a:srgbClr val="06B6D4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MS투데이 (AI기본법)</a:t>
            </a:r>
            <a:pPr indent="0" marL="0">
              <a:buNone/>
            </a:pPr>
            <a:r>
              <a:rPr lang="en-US" sz="500" dirty="0">
                <a:solidFill>
                  <a:srgbClr val="64748B"/>
                </a:solidFill>
              </a:rPr>
              <a:t> | </a:t>
            </a:r>
            <a:pPr indent="0" marL="0">
              <a:buNone/>
            </a:pPr>
            <a:r>
              <a:rPr lang="en-US" sz="500" u="sng" dirty="0">
                <a:solidFill>
                  <a:srgbClr val="06B6D4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InvestKOREA</a:t>
            </a:r>
            <a:pPr indent="0" marL="0">
              <a:buNone/>
            </a:pPr>
            <a:r>
              <a:rPr lang="en-US" sz="500" dirty="0">
                <a:solidFill>
                  <a:srgbClr val="64748B"/>
                </a:solidFill>
              </a:rPr>
              <a:t> | </a:t>
            </a:r>
            <a:pPr indent="0" marL="0">
              <a:buNone/>
            </a:pPr>
            <a:r>
              <a:rPr lang="en-US" sz="500" u="sng" dirty="0">
                <a:solidFill>
                  <a:srgbClr val="06B6D4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Korea Herald (K-EXAONE)</a:t>
            </a:r>
            <a:pPr indent="0" marL="0">
              <a:buNone/>
            </a:pPr>
            <a:r>
              <a:rPr lang="en-US" sz="500" dirty="0">
                <a:solidFill>
                  <a:srgbClr val="64748B"/>
                </a:solidFill>
              </a:rPr>
              <a:t> | </a:t>
            </a:r>
            <a:pPr indent="0" marL="0">
              <a:buNone/>
            </a:pPr>
            <a:r>
              <a:rPr lang="en-US" sz="500" u="sng" dirty="0">
                <a:solidFill>
                  <a:srgbClr val="06B6D4"/>
                </a:solidFill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삼성 뉴스룸</a:t>
            </a:r>
            <a:endParaRPr lang="en-US" sz="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660350"/>
          </a:xfrm>
          <a:prstGeom prst="rect">
            <a:avLst/>
          </a:prstGeom>
          <a:solidFill>
            <a:srgbClr val="0B142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81000" y="215801"/>
            <a:ext cx="215577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에이전트 - 다음 패러다임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8483650" y="0"/>
            <a:ext cx="660350" cy="660350"/>
          </a:xfrm>
          <a:prstGeom prst="rect">
            <a:avLst/>
          </a:prstGeom>
          <a:solidFill>
            <a:srgbClr val="06B6D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8736062" y="253901"/>
            <a:ext cx="15848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17450" y="787301"/>
            <a:ext cx="4178201" cy="901303"/>
          </a:xfrm>
          <a:prstGeom prst="roundRect">
            <a:avLst>
              <a:gd name="adj" fmla="val 8454"/>
            </a:avLst>
          </a:prstGeom>
          <a:solidFill>
            <a:srgbClr val="F1F5F9"/>
          </a:solidFill>
          <a:ln w="9525">
            <a:solidFill>
              <a:srgbClr val="E2E8F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04676" y="923776"/>
            <a:ext cx="3879824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7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504676" y="1044327"/>
            <a:ext cx="387982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기존 챗봇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04676" y="1234827"/>
            <a:ext cx="387982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질문 → 답변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504676" y="1396752"/>
            <a:ext cx="387982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7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사람이 지시해야 동작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4648051" y="787301"/>
            <a:ext cx="4178350" cy="901303"/>
          </a:xfrm>
          <a:prstGeom prst="roundRect">
            <a:avLst>
              <a:gd name="adj" fmla="val 8454"/>
            </a:avLst>
          </a:prstGeom>
          <a:solidFill>
            <a:srgbClr val="0B1426"/>
          </a:solidFill>
          <a:ln w="9525">
            <a:solidFill>
              <a:srgbClr val="1E3A5F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4835277" y="923776"/>
            <a:ext cx="3879976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700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 &amp; NEXT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4835277" y="1044327"/>
            <a:ext cx="387997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에이전트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835277" y="1234827"/>
            <a:ext cx="387997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 → 계획 → 실행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4835277" y="1396752"/>
            <a:ext cx="3879976" cy="1553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650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목표</a:t>
            </a:r>
            <a:pPr algn="l" indent="0" marL="0">
              <a:spcBef>
                <a:spcPts val="300"/>
              </a:spcBef>
              <a:buNone/>
            </a:pPr>
            <a:r>
              <a:rPr lang="en-US" sz="7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spcBef>
                <a:spcPts val="300"/>
              </a:spcBef>
              <a:buNone/>
            </a:pPr>
            <a:r>
              <a:rPr lang="en-US" sz="700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pPr algn="l" indent="0" marL="0">
              <a:spcBef>
                <a:spcPts val="300"/>
              </a:spcBef>
              <a:buNone/>
            </a:pPr>
            <a:r>
              <a:rPr lang="en-US" sz="7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spcBef>
                <a:spcPts val="300"/>
              </a:spcBef>
              <a:buNone/>
            </a:pPr>
            <a:r>
              <a:rPr lang="en-US" sz="650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계획</a:t>
            </a:r>
            <a:pPr algn="l" indent="0" marL="0">
              <a:spcBef>
                <a:spcPts val="300"/>
              </a:spcBef>
              <a:buNone/>
            </a:pPr>
            <a:r>
              <a:rPr lang="en-US" sz="7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spcBef>
                <a:spcPts val="300"/>
              </a:spcBef>
              <a:buNone/>
            </a:pPr>
            <a:r>
              <a:rPr lang="en-US" sz="700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pPr algn="l" indent="0" marL="0">
              <a:spcBef>
                <a:spcPts val="300"/>
              </a:spcBef>
              <a:buNone/>
            </a:pPr>
            <a:r>
              <a:rPr lang="en-US" sz="7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spcBef>
                <a:spcPts val="300"/>
              </a:spcBef>
              <a:buNone/>
            </a:pPr>
            <a:r>
              <a:rPr lang="en-US" sz="650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도구</a:t>
            </a:r>
            <a:pPr algn="l" indent="0" marL="0">
              <a:spcBef>
                <a:spcPts val="300"/>
              </a:spcBef>
              <a:buNone/>
            </a:pPr>
            <a:r>
              <a:rPr lang="en-US" sz="7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spcBef>
                <a:spcPts val="300"/>
              </a:spcBef>
              <a:buNone/>
            </a:pPr>
            <a:r>
              <a:rPr lang="en-US" sz="700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pPr algn="l" indent="0" marL="0">
              <a:spcBef>
                <a:spcPts val="300"/>
              </a:spcBef>
              <a:buNone/>
            </a:pPr>
            <a:r>
              <a:rPr lang="en-US" sz="7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spcBef>
                <a:spcPts val="300"/>
              </a:spcBef>
              <a:buNone/>
            </a:pPr>
            <a:r>
              <a:rPr lang="en-US" sz="650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실행</a:t>
            </a:r>
            <a:pPr algn="l" indent="0" marL="0">
              <a:spcBef>
                <a:spcPts val="300"/>
              </a:spcBef>
              <a:buNone/>
            </a:pPr>
            <a:r>
              <a:rPr lang="en-US" sz="7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spcBef>
                <a:spcPts val="300"/>
              </a:spcBef>
              <a:buNone/>
            </a:pPr>
            <a:r>
              <a:rPr lang="en-US" sz="700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pPr algn="l" indent="0" marL="0">
              <a:spcBef>
                <a:spcPts val="300"/>
              </a:spcBef>
              <a:buNone/>
            </a:pPr>
            <a:r>
              <a:rPr lang="en-US" sz="7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spcBef>
                <a:spcPts val="300"/>
              </a:spcBef>
              <a:buNone/>
            </a:pPr>
            <a:r>
              <a:rPr lang="en-US" sz="650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보고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317450" y="1815554"/>
            <a:ext cx="2768650" cy="841177"/>
          </a:xfrm>
          <a:prstGeom prst="roundRect">
            <a:avLst>
              <a:gd name="adj" fmla="val 90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5400000">
              <a:srgbClr val="000000">
                <a:alpha val="6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Shape 15"/>
          <p:cNvSpPr/>
          <p:nvPr/>
        </p:nvSpPr>
        <p:spPr>
          <a:xfrm>
            <a:off x="317450" y="1834604"/>
            <a:ext cx="2768650" cy="0"/>
          </a:xfrm>
          <a:prstGeom prst="line">
            <a:avLst/>
          </a:prstGeom>
          <a:noFill/>
          <a:ln w="38100">
            <a:solidFill>
              <a:srgbClr val="3B82F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4401" y="1980605"/>
            <a:ext cx="256504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85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OpenAI Operator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444401" y="2133005"/>
            <a:ext cx="256504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WebVoyager 벤치마크 1위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444401" y="2275880"/>
            <a:ext cx="256504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8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87%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444401" y="2415480"/>
            <a:ext cx="256504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웹 자율 조작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3187601" y="1815554"/>
            <a:ext cx="2768650" cy="841177"/>
          </a:xfrm>
          <a:prstGeom prst="roundRect">
            <a:avLst>
              <a:gd name="adj" fmla="val 90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5400000">
              <a:srgbClr val="000000">
                <a:alpha val="6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Shape 21"/>
          <p:cNvSpPr/>
          <p:nvPr/>
        </p:nvSpPr>
        <p:spPr>
          <a:xfrm>
            <a:off x="3187601" y="1834604"/>
            <a:ext cx="2768650" cy="0"/>
          </a:xfrm>
          <a:prstGeom prst="line">
            <a:avLst/>
          </a:prstGeom>
          <a:noFill/>
          <a:ln w="38100">
            <a:solidFill>
              <a:srgbClr val="06B6D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314551" y="1980605"/>
            <a:ext cx="256504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850" b="1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Anthropic MCP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3314551" y="2133005"/>
            <a:ext cx="256504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서버 10,000+개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3314551" y="2275880"/>
            <a:ext cx="256504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800" b="1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SDK 9,700만/월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3314551" y="2425005"/>
            <a:ext cx="256504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에이전트 표준 프로토콜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6057751" y="1815554"/>
            <a:ext cx="2768650" cy="841177"/>
          </a:xfrm>
          <a:prstGeom prst="roundRect">
            <a:avLst>
              <a:gd name="adj" fmla="val 90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5400000">
              <a:srgbClr val="000000">
                <a:alpha val="6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Shape 27"/>
          <p:cNvSpPr/>
          <p:nvPr/>
        </p:nvSpPr>
        <p:spPr>
          <a:xfrm>
            <a:off x="6057751" y="1834604"/>
            <a:ext cx="2768650" cy="0"/>
          </a:xfrm>
          <a:prstGeom prst="line">
            <a:avLst/>
          </a:prstGeom>
          <a:noFill/>
          <a:ln w="38100">
            <a:solidFill>
              <a:srgbClr val="F43F5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184702" y="1980605"/>
            <a:ext cx="256504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850" b="1" dirty="0">
                <a:solidFill>
                  <a:srgbClr val="F43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Salesforce Agentforce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6184702" y="2133005"/>
            <a:ext cx="256504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22,000건 거래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6184702" y="2275880"/>
            <a:ext cx="2565044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800" b="1" dirty="0">
                <a:solidFill>
                  <a:srgbClr val="F43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84% 자동 해결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6184702" y="2425005"/>
            <a:ext cx="2565044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기업 CRM AI 에이전트</a:t>
            </a:r>
            <a:endParaRPr lang="en-US" sz="650" dirty="0"/>
          </a:p>
        </p:txBody>
      </p:sp>
      <p:sp>
        <p:nvSpPr>
          <p:cNvPr id="34" name="Text 32"/>
          <p:cNvSpPr/>
          <p:nvPr/>
        </p:nvSpPr>
        <p:spPr>
          <a:xfrm>
            <a:off x="317450" y="2783681"/>
            <a:ext cx="8508950" cy="326827"/>
          </a:xfrm>
          <a:prstGeom prst="roundRect">
            <a:avLst>
              <a:gd name="adj" fmla="val 23315"/>
            </a:avLst>
          </a:prstGeom>
          <a:solidFill>
            <a:srgbClr val="0B142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439574" y="2885182"/>
            <a:ext cx="826470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기업 앱 AI 에이전트: 5%(2025) → 40%(2026) (Gartner)  |  시장 규모: $78억 → $526억 (2030)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256032" y="4736592"/>
            <a:ext cx="8631936" cy="1828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500" b="1" dirty="0">
                <a:solidFill>
                  <a:srgbClr val="94A3B8"/>
                </a:solidFill>
              </a:rPr>
              <a:t>출처: </a:t>
            </a:r>
            <a:pPr indent="0" marL="0">
              <a:buNone/>
            </a:pPr>
            <a:r>
              <a:rPr lang="en-US" sz="500" u="sng" dirty="0">
                <a:solidFill>
                  <a:srgbClr val="06B6D4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Gartner 2025</a:t>
            </a:r>
            <a:pPr indent="0" marL="0">
              <a:buNone/>
            </a:pPr>
            <a:r>
              <a:rPr lang="en-US" sz="500" dirty="0">
                <a:solidFill>
                  <a:srgbClr val="64748B"/>
                </a:solidFill>
              </a:rPr>
              <a:t> | </a:t>
            </a:r>
            <a:pPr indent="0" marL="0">
              <a:buNone/>
            </a:pPr>
            <a:r>
              <a:rPr lang="en-US" sz="500" u="sng" dirty="0">
                <a:solidFill>
                  <a:srgbClr val="06B6D4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MIT Tech Review</a:t>
            </a:r>
            <a:pPr indent="0" marL="0">
              <a:buNone/>
            </a:pPr>
            <a:r>
              <a:rPr lang="en-US" sz="500" dirty="0">
                <a:solidFill>
                  <a:srgbClr val="64748B"/>
                </a:solidFill>
              </a:rPr>
              <a:t> | </a:t>
            </a:r>
            <a:pPr indent="0" marL="0">
              <a:buNone/>
            </a:pPr>
            <a:r>
              <a:rPr lang="en-US" sz="500" u="sng" dirty="0">
                <a:solidFill>
                  <a:srgbClr val="06B6D4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Pento (MCP)</a:t>
            </a:r>
            <a:pPr indent="0" marL="0">
              <a:buNone/>
            </a:pPr>
            <a:r>
              <a:rPr lang="en-US" sz="500" dirty="0">
                <a:solidFill>
                  <a:srgbClr val="64748B"/>
                </a:solidFill>
              </a:rPr>
              <a:t> | </a:t>
            </a:r>
            <a:pPr indent="0" marL="0">
              <a:buNone/>
            </a:pPr>
            <a:r>
              <a:rPr lang="en-US" sz="500" u="sng" dirty="0">
                <a:solidFill>
                  <a:srgbClr val="06B6D4"/>
                </a:solidFill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Multimodal.dev</a:t>
            </a:r>
            <a:endParaRPr lang="en-US" sz="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660350"/>
          </a:xfrm>
          <a:prstGeom prst="rect">
            <a:avLst/>
          </a:prstGeom>
          <a:solidFill>
            <a:srgbClr val="0B142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81000" y="215801"/>
            <a:ext cx="213209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AI와 일자리의 미래 + Q&amp;A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8483650" y="0"/>
            <a:ext cx="660350" cy="660350"/>
          </a:xfrm>
          <a:prstGeom prst="rect">
            <a:avLst/>
          </a:prstGeom>
          <a:solidFill>
            <a:srgbClr val="06B6D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8736062" y="253901"/>
            <a:ext cx="15848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17450" y="787301"/>
            <a:ext cx="855464" cy="279202"/>
          </a:xfrm>
          <a:prstGeom prst="roundRect">
            <a:avLst>
              <a:gd name="adj" fmla="val 22743"/>
            </a:avLst>
          </a:prstGeom>
          <a:solidFill>
            <a:srgbClr val="0B142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44401" y="850702"/>
            <a:ext cx="61359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43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AI와 일자리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17450" y="1168003"/>
            <a:ext cx="5016401" cy="1399580"/>
          </a:xfrm>
          <a:prstGeom prst="roundRect">
            <a:avLst>
              <a:gd name="adj" fmla="val 72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5400000">
              <a:srgbClr val="000000">
                <a:alpha val="6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95151" y="1320403"/>
            <a:ext cx="4754219" cy="95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WEF Future of Jobs 2025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495151" y="1479054"/>
            <a:ext cx="2266950" cy="571202"/>
          </a:xfrm>
          <a:prstGeom prst="roundRect">
            <a:avLst>
              <a:gd name="adj" fmla="val 13340"/>
            </a:avLst>
          </a:prstGeom>
          <a:solidFill>
            <a:srgbClr val="FEF2F2"/>
          </a:solidFill>
          <a:ln w="9525">
            <a:solidFill>
              <a:srgbClr val="FECAC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611687" y="1590080"/>
            <a:ext cx="2033879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소멸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611687" y="1720155"/>
            <a:ext cx="2033879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9,200만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889052" y="1479054"/>
            <a:ext cx="2267099" cy="571202"/>
          </a:xfrm>
          <a:prstGeom prst="roundRect">
            <a:avLst>
              <a:gd name="adj" fmla="val 13340"/>
            </a:avLst>
          </a:prstGeom>
          <a:solidFill>
            <a:srgbClr val="ECFEFF"/>
          </a:solidFill>
          <a:ln w="9525">
            <a:solidFill>
              <a:srgbClr val="A5F3FC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005585" y="1590080"/>
            <a:ext cx="2034031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신규 창출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3005585" y="1720155"/>
            <a:ext cx="2034031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200"/>
              </a:spcBef>
              <a:buNone/>
            </a:pPr>
            <a:r>
              <a:rPr lang="en-US" sz="1400" b="1" dirty="0">
                <a:solidFill>
                  <a:srgbClr val="0891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1.7억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95151" y="2126456"/>
            <a:ext cx="4660999" cy="288727"/>
          </a:xfrm>
          <a:prstGeom prst="roundRect">
            <a:avLst>
              <a:gd name="adj" fmla="val 21993"/>
            </a:avLst>
          </a:prstGeom>
          <a:solidFill>
            <a:srgbClr val="F0FDF4"/>
          </a:solidFill>
          <a:ln w="9525">
            <a:solidFill>
              <a:srgbClr val="BBF7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587746" y="2199382"/>
            <a:ext cx="447580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순 +7,800만 일자리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17450" y="2656433"/>
            <a:ext cx="5016401" cy="456902"/>
          </a:xfrm>
          <a:prstGeom prst="roundRect">
            <a:avLst>
              <a:gd name="adj" fmla="val 1667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5400000">
              <a:srgbClr val="000000">
                <a:alpha val="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Shape 17"/>
          <p:cNvSpPr/>
          <p:nvPr/>
        </p:nvSpPr>
        <p:spPr>
          <a:xfrm>
            <a:off x="336500" y="2656433"/>
            <a:ext cx="0" cy="456902"/>
          </a:xfrm>
          <a:prstGeom prst="line">
            <a:avLst/>
          </a:prstGeom>
          <a:noFill/>
          <a:ln w="38100">
            <a:solidFill>
              <a:srgbClr val="3B82F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2501" y="2757934"/>
            <a:ext cx="481888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IMF 분석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482501" y="2907060"/>
            <a:ext cx="481888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선진국 일자리 60% AI 노출, 절반은 생산성 강화</a:t>
            </a:r>
            <a:endParaRPr lang="en-US" sz="700" dirty="0"/>
          </a:p>
        </p:txBody>
      </p:sp>
      <p:sp>
        <p:nvSpPr>
          <p:cNvPr id="22" name="Text 20"/>
          <p:cNvSpPr/>
          <p:nvPr/>
        </p:nvSpPr>
        <p:spPr>
          <a:xfrm>
            <a:off x="317450" y="3176736"/>
            <a:ext cx="5016401" cy="456902"/>
          </a:xfrm>
          <a:prstGeom prst="roundRect">
            <a:avLst>
              <a:gd name="adj" fmla="val 1667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5400000">
              <a:srgbClr val="000000">
                <a:alpha val="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Shape 21"/>
          <p:cNvSpPr/>
          <p:nvPr/>
        </p:nvSpPr>
        <p:spPr>
          <a:xfrm>
            <a:off x="336500" y="3176736"/>
            <a:ext cx="0" cy="456902"/>
          </a:xfrm>
          <a:prstGeom prst="line">
            <a:avLst/>
          </a:prstGeom>
          <a:noFill/>
          <a:ln w="38100">
            <a:solidFill>
              <a:srgbClr val="F59E0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2501" y="3278237"/>
            <a:ext cx="481888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스킬 전환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482501" y="3427363"/>
            <a:ext cx="481888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7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2030년까지 기존 스킬 39% 구식화 → 재교육 필수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5524500" y="787301"/>
            <a:ext cx="1183332" cy="269677"/>
          </a:xfrm>
          <a:prstGeom prst="roundRect">
            <a:avLst>
              <a:gd name="adj" fmla="val 23547"/>
            </a:avLst>
          </a:prstGeom>
          <a:solidFill>
            <a:srgbClr val="0B142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5651450" y="850702"/>
            <a:ext cx="94802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Takeaways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524500" y="1158478"/>
            <a:ext cx="3238500" cy="584002"/>
          </a:xfrm>
          <a:prstGeom prst="roundRect">
            <a:avLst>
              <a:gd name="adj" fmla="val 130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5400000">
              <a:srgbClr val="000000">
                <a:alpha val="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5676900" y="1285429"/>
            <a:ext cx="330101" cy="330101"/>
          </a:xfrm>
          <a:prstGeom prst="roundRect">
            <a:avLst>
              <a:gd name="adj" fmla="val 277006"/>
            </a:avLst>
          </a:prstGeom>
          <a:solidFill>
            <a:srgbClr val="ECFE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5799534" y="1364754"/>
            <a:ext cx="8652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108502" y="1285429"/>
            <a:ext cx="1310378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AI는 이미 전 산업에 깊이 침투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6108502" y="1434554"/>
            <a:ext cx="1310378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의료, 금융, 교육, 콘텐츠, 일상</a:t>
            </a:r>
            <a:endParaRPr lang="en-US" sz="650" dirty="0"/>
          </a:p>
        </p:txBody>
      </p:sp>
      <p:sp>
        <p:nvSpPr>
          <p:cNvPr id="33" name="Text 31"/>
          <p:cNvSpPr/>
          <p:nvPr/>
        </p:nvSpPr>
        <p:spPr>
          <a:xfrm>
            <a:off x="5524500" y="1818680"/>
            <a:ext cx="3238500" cy="584002"/>
          </a:xfrm>
          <a:prstGeom prst="roundRect">
            <a:avLst>
              <a:gd name="adj" fmla="val 130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5400000">
              <a:srgbClr val="000000">
                <a:alpha val="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5676900" y="1945630"/>
            <a:ext cx="330101" cy="330101"/>
          </a:xfrm>
          <a:prstGeom prst="roundRect">
            <a:avLst>
              <a:gd name="adj" fmla="val 277006"/>
            </a:avLst>
          </a:prstGeom>
          <a:solidFill>
            <a:srgbClr val="EFF6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5799534" y="2024955"/>
            <a:ext cx="8652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6108502" y="1945630"/>
            <a:ext cx="1455503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도구에서 자율 에이전트로 진화 중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6108502" y="2094756"/>
            <a:ext cx="1455503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챗봇 → 코파일럿 → 에이전트</a:t>
            </a:r>
            <a:endParaRPr lang="en-US" sz="650" dirty="0"/>
          </a:p>
        </p:txBody>
      </p:sp>
      <p:sp>
        <p:nvSpPr>
          <p:cNvPr id="38" name="Text 36"/>
          <p:cNvSpPr/>
          <p:nvPr/>
        </p:nvSpPr>
        <p:spPr>
          <a:xfrm>
            <a:off x="5524500" y="2478881"/>
            <a:ext cx="3238500" cy="584002"/>
          </a:xfrm>
          <a:prstGeom prst="roundRect">
            <a:avLst>
              <a:gd name="adj" fmla="val 130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5400000">
              <a:srgbClr val="000000">
                <a:alpha val="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5676900" y="2605832"/>
            <a:ext cx="330101" cy="330101"/>
          </a:xfrm>
          <a:prstGeom prst="roundRect">
            <a:avLst>
              <a:gd name="adj" fmla="val 277006"/>
            </a:avLst>
          </a:prstGeom>
          <a:solidFill>
            <a:srgbClr val="FFF1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5799534" y="2685157"/>
            <a:ext cx="8652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43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6108502" y="2605832"/>
            <a:ext cx="1375047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한국은 AI 기본법으로 세계 선도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6108502" y="2754957"/>
            <a:ext cx="1375047" cy="104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100조 투자 + 법제도 선도</a:t>
            </a:r>
            <a:endParaRPr lang="en-US" sz="650" dirty="0"/>
          </a:p>
        </p:txBody>
      </p:sp>
      <p:sp>
        <p:nvSpPr>
          <p:cNvPr id="43" name="Text 41"/>
          <p:cNvSpPr/>
          <p:nvPr/>
        </p:nvSpPr>
        <p:spPr>
          <a:xfrm>
            <a:off x="2983557" y="4575274"/>
            <a:ext cx="3176736" cy="415826"/>
          </a:xfrm>
          <a:prstGeom prst="roundRect">
            <a:avLst>
              <a:gd name="adj" fmla="val 61083"/>
            </a:avLst>
          </a:prstGeom>
          <a:solidFill>
            <a:srgbClr val="0B142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Text 42"/>
          <p:cNvSpPr/>
          <p:nvPr/>
        </p:nvSpPr>
        <p:spPr>
          <a:xfrm>
            <a:off x="3340410" y="4702225"/>
            <a:ext cx="2463031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감사합니다. 질문 있으시면 편하게 해주세요!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256032" y="4736592"/>
            <a:ext cx="8631936" cy="1828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500" b="1" dirty="0">
                <a:solidFill>
                  <a:srgbClr val="94A3B8"/>
                </a:solidFill>
              </a:rPr>
              <a:t>출처: </a:t>
            </a:r>
            <a:pPr indent="0" marL="0">
              <a:buNone/>
            </a:pPr>
            <a:r>
              <a:rPr lang="en-US" sz="500" u="sng" dirty="0">
                <a:solidFill>
                  <a:srgbClr val="06B6D4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WEF Future of Jobs 2025</a:t>
            </a:r>
            <a:pPr indent="0" marL="0">
              <a:buNone/>
            </a:pPr>
            <a:r>
              <a:rPr lang="en-US" sz="500" dirty="0">
                <a:solidFill>
                  <a:srgbClr val="64748B"/>
                </a:solidFill>
              </a:rPr>
              <a:t> | </a:t>
            </a:r>
            <a:pPr indent="0" marL="0">
              <a:buNone/>
            </a:pPr>
            <a:r>
              <a:rPr lang="en-US" sz="500" u="sng" dirty="0">
                <a:solidFill>
                  <a:srgbClr val="06B6D4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IMF 2026</a:t>
            </a:r>
            <a:endParaRPr lang="en-US" sz="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AI, 어디까지 왔을까? - 비전공자를 위한 인공지능 핵심 가이드</dc:title>
  <dc:subject>PptxGenJS Presentation</dc:subject>
  <dc:creator>AI Research Team</dc:creator>
  <cp:lastModifiedBy>AI Research Team</cp:lastModifiedBy>
  <cp:revision>1</cp:revision>
  <dcterms:created xsi:type="dcterms:W3CDTF">2026-03-04T11:37:05Z</dcterms:created>
  <dcterms:modified xsi:type="dcterms:W3CDTF">2026-03-04T11:37:05Z</dcterms:modified>
</cp:coreProperties>
</file>