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706.03762" TargetMode="External"/><Relationship Id="rId2" Type="http://schemas.openxmlformats.org/officeDocument/2006/relationships/hyperlink" Target="https://ai.googleblog.com/" TargetMode="External"/><Relationship Id="rId3" Type="http://schemas.openxmlformats.org/officeDocument/2006/relationships/hyperlink" Target="https://openai.com/research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mind/LIX.236.433" TargetMode="External"/><Relationship Id="rId2" Type="http://schemas.openxmlformats.org/officeDocument/2006/relationships/hyperlink" Target="https://doi.org/10.1038/nature16961" TargetMode="External"/><Relationship Id="rId3" Type="http://schemas.openxmlformats.org/officeDocument/2006/relationships/hyperlink" Target="https://www.reuters.com/technology/chatgpt-sets-record-fastest-growing-user-base-2023-02-01/" TargetMode="External"/><Relationship Id="rId4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newsroom/press-releases/2026-1-15-gartner-says-worldwide-ai-spending-will-total-2-point-5-trillion-dollars-in-2026" TargetMode="External"/><Relationship Id="rId2" Type="http://schemas.openxmlformats.org/officeDocument/2006/relationships/hyperlink" Target="https://aibusinessweekly.net/p/chatgpt-statistics" TargetMode="External"/><Relationship Id="rId3" Type="http://schemas.openxmlformats.org/officeDocument/2006/relationships/hyperlink" Target="https://sacra.com/c/openai/" TargetMode="External"/><Relationship Id="rId4" Type="http://schemas.openxmlformats.org/officeDocument/2006/relationships/hyperlink" Target="https://www.gartner.com/en/newsroom/press-releases/2025-03-31-gartner-forecasts-worldwide-genai-spending-to-reach-644-billion-in-2025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rugtargetreview.com/article/192951/ai-in-drug-discovery-2025-in-review/" TargetMode="External"/><Relationship Id="rId2" Type="http://schemas.openxmlformats.org/officeDocument/2006/relationships/hyperlink" Target="https://www.fda.gov/news-events/press-announcements/fda-proposes-framework-advance-credibility-ai-models-used-drug-and-biological-product-submissions" TargetMode="External"/><Relationship Id="rId3" Type="http://schemas.openxmlformats.org/officeDocument/2006/relationships/hyperlink" Target="https://www.feedzai.com/pressrelease/ai-fraud-trends-2025/" TargetMode="External"/><Relationship Id="rId4" Type="http://schemas.openxmlformats.org/officeDocument/2006/relationships/hyperlink" Target="https://www.figure.ai/new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lobalsociety.earth/post/khan-academy-rolls-out-ai-powered-teaching-tools-as-school-districts-scale-up-adoption" TargetMode="External"/><Relationship Id="rId2" Type="http://schemas.openxmlformats.org/officeDocument/2006/relationships/hyperlink" Target="https://openai.com/index/sora-2/" TargetMode="External"/><Relationship Id="rId3" Type="http://schemas.openxmlformats.org/officeDocument/2006/relationships/hyperlink" Target="https://wavespeed.ai/blog/posts/openai-sora-2-complete-guide-2026/" TargetMode="External"/><Relationship Id="rId4" Type="http://schemas.openxmlformats.org/officeDocument/2006/relationships/hyperlink" Target="https://aibusinessweekly.net/p/chatgpt-statistic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quantumrun.com/consulting/github-copilot-statistics/" TargetMode="External"/><Relationship Id="rId2" Type="http://schemas.openxmlformats.org/officeDocument/2006/relationships/hyperlink" Target="https://digidai.github.io/2026/02/08/cursor-vs-github-copilot-ai-coding-tools-deep-comparison/" TargetMode="External"/><Relationship Id="rId3" Type="http://schemas.openxmlformats.org/officeDocument/2006/relationships/hyperlink" Target="https://www.microsoft.com/en-us/microsoft-365/blog/2024/05/01/new-forrester-tei-study-finds-microsoft-365-copilot-has-317-roi/" TargetMode="External"/><Relationship Id="rId4" Type="http://schemas.openxmlformats.org/officeDocument/2006/relationships/hyperlink" Target="https://www.salesforce.com/news/stories/ai-agents-statistics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stoday.co.kr/news/articleView.html?idxno=99963" TargetMode="External"/><Relationship Id="rId2" Type="http://schemas.openxmlformats.org/officeDocument/2006/relationships/hyperlink" Target="https://www.investkorea.org/ik-en/bbs/i-5025/detail.do?ntt_sn=490804" TargetMode="External"/><Relationship Id="rId3" Type="http://schemas.openxmlformats.org/officeDocument/2006/relationships/hyperlink" Target="https://www.koreaherald.com/article/10652980" TargetMode="External"/><Relationship Id="rId4" Type="http://schemas.openxmlformats.org/officeDocument/2006/relationships/hyperlink" Target="https://news.samsung.com/kr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2" Type="http://schemas.openxmlformats.org/officeDocument/2006/relationships/hyperlink" Target="https://www.technologyreview.com/2025/01/23/1110484/openai-launches-operator-an-agent-that-can-use-a-computer-for-you/" TargetMode="External"/><Relationship Id="rId3" Type="http://schemas.openxmlformats.org/officeDocument/2006/relationships/hyperlink" Target="https://www.pento.ai/blog/a-year-of-mcp-2025-review" TargetMode="External"/><Relationship Id="rId4" Type="http://schemas.openxmlformats.org/officeDocument/2006/relationships/hyperlink" Target="https://www.multimodal.dev/post/agentic-ai-statistic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reports.weforum.org/docs/WEF_Future_of_Jobs_Report_2025.pdf" TargetMode="External"/><Relationship Id="rId2" Type="http://schemas.openxmlformats.org/officeDocument/2006/relationships/hyperlink" Target="https://www.imf.org/en/blogs/articles/2026/01/14/new-skills-and-ai-are-reshaping-the-future-of-wor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1620738"/>
            <a:ext cx="634901" cy="50750"/>
          </a:xfrm>
          <a:prstGeom prst="roundRect">
            <a:avLst>
              <a:gd name="adj" fmla="val 50049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1900089"/>
            <a:ext cx="3238601" cy="9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어디까지</a:t>
            </a:r>
            <a:endParaRPr lang="en-US" sz="2800" dirty="0"/>
          </a:p>
          <a:p>
            <a:pPr algn="l" indent="0" marL="0">
              <a:lnSpc>
                <a:spcPts val="364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왔을까?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44401" y="2925812"/>
            <a:ext cx="3238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비전공자를 위한 인공지능 핵심 가이드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3379738"/>
            <a:ext cx="32386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64050" y="0"/>
            <a:ext cx="507995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22850" y="1390650"/>
            <a:ext cx="2362200" cy="2362200"/>
          </a:xfrm>
          <a:prstGeom prst="roundRect">
            <a:avLst>
              <a:gd name="adj" fmla="val 38710"/>
            </a:avLst>
          </a:prstGeom>
          <a:noFill/>
          <a:ln w="38100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0" y="1682800"/>
            <a:ext cx="1777901" cy="1777901"/>
          </a:xfrm>
          <a:prstGeom prst="roundRect">
            <a:avLst>
              <a:gd name="adj" fmla="val 51431"/>
            </a:avLst>
          </a:prstGeom>
          <a:solidFill>
            <a:srgbClr val="162D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96587" y="2255788"/>
            <a:ext cx="41457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46259" y="2773263"/>
            <a:ext cx="9153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01149" y="76200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43800" y="405139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07598" y="351799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20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AI란 무엇인가?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1801" y="1085701"/>
            <a:ext cx="3467100" cy="3467100"/>
          </a:xfrm>
          <a:prstGeom prst="roundRect">
            <a:avLst>
              <a:gd name="adj" fmla="val 26374"/>
            </a:avLst>
          </a:prstGeom>
          <a:solidFill>
            <a:srgbClr val="E0F2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37953" y="4190851"/>
            <a:ext cx="525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(인공지능)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6351" y="1530251"/>
            <a:ext cx="2578001" cy="2578001"/>
          </a:xfrm>
          <a:prstGeom prst="roundRect">
            <a:avLst>
              <a:gd name="adj" fmla="val 35469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41537" y="3832027"/>
            <a:ext cx="3137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250752" y="1974652"/>
            <a:ext cx="1689050" cy="1689050"/>
          </a:xfrm>
          <a:prstGeom prst="roundRect">
            <a:avLst>
              <a:gd name="adj" fmla="val 54137"/>
            </a:avLst>
          </a:prstGeom>
          <a:solidFill>
            <a:srgbClr val="BFDBFE"/>
          </a:solidFill>
          <a:ln w="19050">
            <a:solidFill>
              <a:srgbClr val="1D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79861" y="3438376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714202" y="2438102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19604" y="2733377"/>
            <a:ext cx="1511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127450" y="914251"/>
            <a:ext cx="4698950" cy="679252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151263" y="914251"/>
            <a:ext cx="0" cy="679252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2776" y="1041202"/>
            <a:ext cx="43818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(Artificial Intelligence)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52776" y="1212652"/>
            <a:ext cx="43818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사람처럼 생각하고 판단하는 컴퓨터 프로그램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52776" y="1361777"/>
            <a:ext cx="438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스팸 필터, 지도 앱 경로 추천, 번역기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27450" y="1695004"/>
            <a:ext cx="4698950" cy="688777"/>
          </a:xfrm>
          <a:prstGeom prst="roundRect">
            <a:avLst>
              <a:gd name="adj" fmla="val 11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51263" y="1695004"/>
            <a:ext cx="0" cy="688777"/>
          </a:xfrm>
          <a:prstGeom prst="line">
            <a:avLst/>
          </a:prstGeom>
          <a:noFill/>
          <a:ln w="47625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776" y="1821954"/>
            <a:ext cx="43818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 (Machine Learning)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52776" y="2002929"/>
            <a:ext cx="43818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통해 스스로 규칙을 학습하는 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52776" y="2152055"/>
            <a:ext cx="438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고양이 사진 1만 장 학습 → 특징 자동 파악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27450" y="2485281"/>
            <a:ext cx="4698950" cy="688777"/>
          </a:xfrm>
          <a:prstGeom prst="roundRect">
            <a:avLst>
              <a:gd name="adj" fmla="val 11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151263" y="2485281"/>
            <a:ext cx="0" cy="688777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776" y="2612231"/>
            <a:ext cx="43818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(Deep Learning)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52776" y="2793206"/>
            <a:ext cx="43818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뇌의 신경망 구조를 모방한 머신러닝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52776" y="2942332"/>
            <a:ext cx="438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이미지 인식, 음성 인식, 자연어 처리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127450" y="3275558"/>
            <a:ext cx="4698950" cy="688777"/>
          </a:xfrm>
          <a:prstGeom prst="roundRect">
            <a:avLst>
              <a:gd name="adj" fmla="val 11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151263" y="3275558"/>
            <a:ext cx="0" cy="688777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52776" y="3402509"/>
            <a:ext cx="43818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(Generative AI)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52776" y="3583484"/>
            <a:ext cx="43818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콘텐츠를 '창작'하는 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52776" y="3732609"/>
            <a:ext cx="4381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ChatGPT(텍스트), Midjourney(이미지), Sora 2(영상), Suno(음악)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127450" y="4065836"/>
            <a:ext cx="4698950" cy="507802"/>
          </a:xfrm>
          <a:prstGeom prst="roundRect">
            <a:avLst>
              <a:gd name="adj" fmla="val 15006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05151" y="4192786"/>
            <a:ext cx="2054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AI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05151" y="4322862"/>
            <a:ext cx="20548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"이건 고양이" (분류)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76851" y="4192786"/>
            <a:ext cx="0" cy="253901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4014" y="4192786"/>
            <a:ext cx="20549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634014" y="4322862"/>
            <a:ext cx="20549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"고양이 그려줘" (창작)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Vaswani et al. 2017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AI Blog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987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역사 - 핵심 마일스톤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2793950"/>
            <a:ext cx="8254901" cy="38100"/>
          </a:xfrm>
          <a:prstGeom prst="roundRect">
            <a:avLst>
              <a:gd name="adj" fmla="val 66667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0500" y="1269950"/>
            <a:ext cx="990600" cy="650528"/>
          </a:xfrm>
          <a:prstGeom prst="roundRect">
            <a:avLst>
              <a:gd name="adj" fmla="val 97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4125" y="1371451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4125" y="1530102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앨런 튜링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84125" y="1647527"/>
            <a:ext cx="803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"기계도 생각할 수 있을까?"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96950" y="198387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14500" y="271775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08050" y="2958852"/>
            <a:ext cx="990600" cy="564803"/>
          </a:xfrm>
          <a:prstGeom prst="roundRect">
            <a:avLst>
              <a:gd name="adj" fmla="val 11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01675" y="3060353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01675" y="3219004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다트머스 회의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401675" y="3336429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'인공지능' 용어 탄생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425601" y="1269950"/>
            <a:ext cx="990600" cy="564803"/>
          </a:xfrm>
          <a:prstGeom prst="roundRect">
            <a:avLst>
              <a:gd name="adj" fmla="val 11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19226" y="1371451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9226" y="1530102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딥블루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519226" y="1647527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체스 세계챔피언 격파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832050" y="1898154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49750" y="271775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43300" y="2958852"/>
            <a:ext cx="990600" cy="564803"/>
          </a:xfrm>
          <a:prstGeom prst="roundRect">
            <a:avLst>
              <a:gd name="adj" fmla="val 11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36925" y="3060353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36925" y="3219004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혁명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636925" y="3336429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AlexNet, GPU 학습 시대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660850" y="1269950"/>
            <a:ext cx="990600" cy="555278"/>
          </a:xfrm>
          <a:prstGeom prst="roundRect">
            <a:avLst>
              <a:gd name="adj" fmla="val 11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54475" y="1371451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475" y="1530102"/>
            <a:ext cx="8033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AlphaGo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754475" y="1638002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이세돌 9단 4:1 격파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067300" y="188862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84850" y="2717750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78401" y="2958852"/>
            <a:ext cx="990600" cy="564803"/>
          </a:xfrm>
          <a:prstGeom prst="roundRect">
            <a:avLst>
              <a:gd name="adj" fmla="val 11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872026" y="3060353"/>
            <a:ext cx="8033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72026" y="3219004"/>
            <a:ext cx="8033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출시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5872026" y="3336429"/>
            <a:ext cx="8033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2개월 1억 사용자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896100" y="1066800"/>
            <a:ext cx="990600" cy="688628"/>
          </a:xfrm>
          <a:prstGeom prst="roundRect">
            <a:avLst>
              <a:gd name="adj" fmla="val 9221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009156" y="1187351"/>
            <a:ext cx="7644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09156" y="1346002"/>
            <a:ext cx="7644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&amp; 대중화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009156" y="1463427"/>
            <a:ext cx="7644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8억 명, 기업 40% 에이전트 도입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7302550" y="181882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81000" y="4588073"/>
            <a:ext cx="8382000" cy="326827"/>
          </a:xfrm>
          <a:prstGeom prst="roundRect">
            <a:avLst>
              <a:gd name="adj" fmla="val 19429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50429" y="4689574"/>
            <a:ext cx="2442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76년</a:t>
            </a:r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연구 끝에, AI는 이제 우리 일상의 일부가 되었습니다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Turing 1950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Nature 2016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Reuters 2023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2025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22899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시장 규모 - 숫자로 보는 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8508950" cy="1334393"/>
          </a:xfrm>
          <a:prstGeom prst="roundRect">
            <a:avLst>
              <a:gd name="adj" fmla="val 7614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2250" y="990451"/>
            <a:ext cx="1027807" cy="174427"/>
          </a:xfrm>
          <a:prstGeom prst="roundRect">
            <a:avLst>
              <a:gd name="adj" fmla="val 21843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751" y="1015752"/>
            <a:ext cx="8413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2026 전망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2250" y="1241078"/>
            <a:ext cx="1570419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$2.52조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2250" y="1794718"/>
            <a:ext cx="1570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AI 지출 (2026)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575054" y="1154609"/>
            <a:ext cx="946547" cy="599777"/>
          </a:xfrm>
          <a:prstGeom prst="roundRect">
            <a:avLst>
              <a:gd name="adj" fmla="val 12705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46843" y="1256109"/>
            <a:ext cx="6029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46843" y="1548110"/>
            <a:ext cx="6029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 대비 성장률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450" y="2274094"/>
            <a:ext cx="4127450" cy="901601"/>
          </a:xfrm>
          <a:prstGeom prst="roundRect">
            <a:avLst>
              <a:gd name="adj" fmla="val 8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500" y="2274094"/>
            <a:ext cx="0" cy="90160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251" y="2426494"/>
            <a:ext cx="3808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8억 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251" y="2689920"/>
            <a:ext cx="38086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주간 활성 사용자 (2026.02)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251" y="2851845"/>
            <a:ext cx="3808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인구 10명 중 1명이 매주 사용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1851" y="2274094"/>
            <a:ext cx="4127450" cy="901601"/>
          </a:xfrm>
          <a:prstGeom prst="roundRect">
            <a:avLst>
              <a:gd name="adj" fmla="val 8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90901" y="2274094"/>
            <a:ext cx="0" cy="901601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7652" y="2426494"/>
            <a:ext cx="3808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$131억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87652" y="2689920"/>
            <a:ext cx="38086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연매출 (2025)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87652" y="2896344"/>
            <a:ext cx="595313" cy="120551"/>
          </a:xfrm>
          <a:prstGeom prst="roundRect">
            <a:avLst>
              <a:gd name="adj" fmla="val 3160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1053" y="2908995"/>
            <a:ext cx="4778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+254%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17450" y="3302645"/>
            <a:ext cx="4127450" cy="901601"/>
          </a:xfrm>
          <a:prstGeom prst="roundRect">
            <a:avLst>
              <a:gd name="adj" fmla="val 8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36500" y="3302645"/>
            <a:ext cx="0" cy="90160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251" y="3455045"/>
            <a:ext cx="3808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$6,440억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251" y="3718471"/>
            <a:ext cx="38086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지출 (2025, Gartner)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3251" y="3880396"/>
            <a:ext cx="3808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AI 투자의 핵심 영역으로 급부상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1851" y="3302645"/>
            <a:ext cx="4127450" cy="901601"/>
          </a:xfrm>
          <a:prstGeom prst="roundRect">
            <a:avLst>
              <a:gd name="adj" fmla="val 8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590901" y="3302645"/>
            <a:ext cx="0" cy="90160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7652" y="3455045"/>
            <a:ext cx="38086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$73.7억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87652" y="3718471"/>
            <a:ext cx="38086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도구 시장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87652" y="3924895"/>
            <a:ext cx="545902" cy="120551"/>
          </a:xfrm>
          <a:prstGeom prst="roundRect">
            <a:avLst>
              <a:gd name="adj" fmla="val 3160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51053" y="3937546"/>
            <a:ext cx="4274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+50%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AI Spending 2026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Business Weekly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Sacra (OpenAI)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GenAI 2025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14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AI 활용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2751683" cy="355402"/>
          </a:xfrm>
          <a:prstGeom prst="roundRect">
            <a:avLst>
              <a:gd name="adj" fmla="val 2144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423" y="888802"/>
            <a:ext cx="2547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1269653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6500" y="1269653"/>
            <a:ext cx="0" cy="1778198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950" y="1422053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신약 파트너십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615678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규모 $150억+ (2025)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7950" y="1802904"/>
            <a:ext cx="24569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빅파마-AI 기업 간 신약 개발 협력이 폭발적으로 증가하며 파이프라인 가속화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7950" y="2139404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Target Review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17450" y="3174802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500" y="3174802"/>
            <a:ext cx="0" cy="1778198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3327202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AI 도구 공식 인정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520827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공식 인정 (2025.12)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950" y="3708053"/>
            <a:ext cx="24569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FDA가 AI 기반 임상 의사결정 도구를 공식 인정, 규제 패러다임 전환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7950" y="4044553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196084" y="787301"/>
            <a:ext cx="2751683" cy="355402"/>
          </a:xfrm>
          <a:prstGeom prst="roundRect">
            <a:avLst>
              <a:gd name="adj" fmla="val 21441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98057" y="888802"/>
            <a:ext cx="2547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96084" y="1269653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15134" y="1269653"/>
            <a:ext cx="0" cy="1778198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6584" y="1422053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사기 탐지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6584" y="1615678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은행 90%가 도입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6584" y="1802904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은행의 2/3는 최근 2년 내 AI 사기 탐지 시스템을 도입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86584" y="1996529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Feedzai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196084" y="3174802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15134" y="3174802"/>
            <a:ext cx="0" cy="1778198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6584" y="3327202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허위 거절 감소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6584" y="3520827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 감소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86584" y="3708053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도입으로 정상 거래를 사기로 잘못 차단하는 비율이 크게 감소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86584" y="3901678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074718" y="787301"/>
            <a:ext cx="2751683" cy="355402"/>
          </a:xfrm>
          <a:prstGeom prst="roundRect">
            <a:avLst>
              <a:gd name="adj" fmla="val 2144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76690" y="888802"/>
            <a:ext cx="25477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 / 로봇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74718" y="1269653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093768" y="1269653"/>
            <a:ext cx="0" cy="177819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5218" y="1422053"/>
            <a:ext cx="24569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02 x BMW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5218" y="1606153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3만대 생산, 부품 9만개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65218" y="1793379"/>
            <a:ext cx="24569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99%+ 달성. 휴머노이드 로봇이 자동차 조립라인에 실전 투입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65218" y="2129879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074718" y="3174802"/>
            <a:ext cx="2751683" cy="1778198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93768" y="3174802"/>
            <a:ext cx="0" cy="177819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5218" y="3327202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BotQ 양산 계획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65218" y="3520827"/>
            <a:ext cx="2456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12,000대 생산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65218" y="3708053"/>
            <a:ext cx="2456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4년 내 연간 10만대 규모로 확대 목표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65218" y="3901678"/>
            <a:ext cx="2456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AI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Drug Target Review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FDA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Feedzai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Figure AI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938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· 콘텐츠 · 일상의 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270510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850702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(Education)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1155353"/>
            <a:ext cx="2705100" cy="1822549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6500" y="1155353"/>
            <a:ext cx="0" cy="1822549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950" y="1282303"/>
            <a:ext cx="2409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Khanmigo AI 튜터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1463278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10배 성장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7950" y="1602879"/>
            <a:ext cx="2409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6.8만 → 70만 (2025)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1802904"/>
            <a:ext cx="24094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 교육구 45개 → 380개+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7450" y="3054102"/>
            <a:ext cx="2705100" cy="18226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500" y="3054102"/>
            <a:ext cx="0" cy="1822698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3181052"/>
            <a:ext cx="2409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교육 시장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362027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시장 규모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7950" y="3501628"/>
            <a:ext cx="2409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$69억 → $410억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3701653"/>
            <a:ext cx="24094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2030년, CAGR 42.8%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174950" y="787301"/>
            <a:ext cx="270510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01901" y="850702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(Content)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74950" y="1155353"/>
            <a:ext cx="2705100" cy="1189583"/>
          </a:xfrm>
          <a:prstGeom prst="roundRect">
            <a:avLst>
              <a:gd name="adj" fmla="val 64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94000" y="1155353"/>
            <a:ext cx="0" cy="1189583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5450" y="1282303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2 (OpenAI)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65450" y="1453753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20초 1080p 영상 생성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65450" y="1606153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오디오 동기화 (2025.09)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174950" y="2421136"/>
            <a:ext cx="2705100" cy="1189732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194000" y="2421136"/>
            <a:ext cx="0" cy="1189732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5450" y="2548086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 × Sora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65450" y="2719536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$10억 투자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65450" y="2871936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캐릭터 IP 제공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174950" y="3687068"/>
            <a:ext cx="2705100" cy="1189732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194000" y="3687068"/>
            <a:ext cx="0" cy="1189732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5450" y="3814018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Veo 3 (Google)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5450" y="3985468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→ 영상 + 오디오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65450" y="4137868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생성 지원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032450" y="787301"/>
            <a:ext cx="270510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59401" y="850702"/>
            <a:ext cx="2500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 (Daily Life)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2450" y="1155353"/>
            <a:ext cx="2705100" cy="1822549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051500" y="1155353"/>
            <a:ext cx="0" cy="1822549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2950" y="1282303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22950" y="1453753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활성 사용자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22950" y="1593354"/>
            <a:ext cx="24094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8억 명 (2026.02)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22950" y="1793379"/>
            <a:ext cx="24094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인구 10명 중 1명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032450" y="3054102"/>
            <a:ext cx="2705100" cy="1822698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051500" y="3054102"/>
            <a:ext cx="0" cy="1822698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2950" y="3181052"/>
            <a:ext cx="2409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 AI 도구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22950" y="3362027"/>
            <a:ext cx="2409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사용 비율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22950" y="3501628"/>
            <a:ext cx="24094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(2025)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22950" y="3692128"/>
            <a:ext cx="24094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생산성 도구 필수화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Society (Khanmigo)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Sora 2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WaveSpeed (Disney)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Business Weekly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15591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&amp; 업무 혁신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412745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850702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도구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1155353"/>
            <a:ext cx="4127450" cy="1041499"/>
          </a:xfrm>
          <a:prstGeom prst="roundRect">
            <a:avLst>
              <a:gd name="adj" fmla="val 7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6500" y="1155353"/>
            <a:ext cx="0" cy="1041499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601" y="1294954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0601" y="1466404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2,000만+ 사용자, 시장 점유율 42%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0601" y="1618804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도구 시장 1위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17450" y="2273052"/>
            <a:ext cx="4127450" cy="1041648"/>
          </a:xfrm>
          <a:prstGeom prst="roundRect">
            <a:avLst>
              <a:gd name="adj" fmla="val 7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273052"/>
            <a:ext cx="0" cy="1041648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601" y="2412653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0601" y="2584103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기업가치 $293억, ARR $10억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0601" y="2736503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24개월 만의 성과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17450" y="3390900"/>
            <a:ext cx="4127450" cy="1041499"/>
          </a:xfrm>
          <a:prstGeom prst="roundRect">
            <a:avLst>
              <a:gd name="adj" fmla="val 7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6500" y="3390900"/>
            <a:ext cx="0" cy="1041499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601" y="3530501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0601" y="3701951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$10억 돌파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0601" y="3854351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9개월 -- 역대 최단 기록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35401" y="787301"/>
            <a:ext cx="4127450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2351" y="850702"/>
            <a:ext cx="3951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AI (Enterprise)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35401" y="1155353"/>
            <a:ext cx="4127450" cy="1041499"/>
          </a:xfrm>
          <a:prstGeom prst="roundRect">
            <a:avLst>
              <a:gd name="adj" fmla="val 7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4451" y="1155353"/>
            <a:ext cx="0" cy="104149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8551" y="1294954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365 Copilot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38551" y="1466404"/>
            <a:ext cx="3834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317%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38551" y="1609279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Forrester TEI Study 기준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35401" y="2273052"/>
            <a:ext cx="4127450" cy="1041648"/>
          </a:xfrm>
          <a:prstGeom prst="roundRect">
            <a:avLst>
              <a:gd name="adj" fmla="val 7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54451" y="2273052"/>
            <a:ext cx="0" cy="104164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8551" y="2412653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Agentforce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38551" y="2584103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ARR $11억, 고객 문의 84% 자동 해결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38551" y="2736503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CRM AI 선두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35401" y="3390900"/>
            <a:ext cx="4127450" cy="1041499"/>
          </a:xfrm>
          <a:prstGeom prst="roundRect">
            <a:avLst>
              <a:gd name="adj" fmla="val 7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54451" y="3390900"/>
            <a:ext cx="0" cy="104149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8551" y="3530501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Now Assist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38551" y="3701951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$6억+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38551" y="3854351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 관리 AI 자동화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17450" y="4613374"/>
            <a:ext cx="8508950" cy="377726"/>
          </a:xfrm>
          <a:prstGeom prst="roundRect">
            <a:avLst>
              <a:gd name="adj" fmla="val 2017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9574" y="4740325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코딩 도구 시장: $73.7억 (YoY +50%)  |  개발자 85%가 AI 도구 정기 사용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Quantumrun (Copilot)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Digidai (Cursor)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Forrester TEI (MS Copilot)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Salesforce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974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AI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4178201" cy="1253877"/>
          </a:xfrm>
          <a:prstGeom prst="roundRect">
            <a:avLst>
              <a:gd name="adj" fmla="val 8103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2882" y="1066651"/>
            <a:ext cx="38473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기본법 시행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82882" y="1231702"/>
            <a:ext cx="38473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2026.01.22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2882" y="1618952"/>
            <a:ext cx="38473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 최초 전면 적용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051" y="787301"/>
            <a:ext cx="4178350" cy="1253877"/>
          </a:xfrm>
          <a:prstGeom prst="roundRect">
            <a:avLst>
              <a:gd name="adj" fmla="val 8103"/>
            </a:avLst>
          </a:prstGeom>
          <a:solidFill>
            <a:srgbClr val="F43F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3481" y="1066651"/>
            <a:ext cx="38474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dirty="0">
                <a:solidFill>
                  <a:srgbClr val="FFE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AI 투자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13481" y="1231702"/>
            <a:ext cx="38474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100조 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13481" y="1638002"/>
            <a:ext cx="38474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FFE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5년간 (약 $715억)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7450" y="2667000"/>
            <a:ext cx="1145679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401" y="2730401"/>
            <a:ext cx="9096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기업 AI 현황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7450" y="3022550"/>
            <a:ext cx="2031950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6500" y="3022550"/>
            <a:ext cx="0" cy="9586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3200251"/>
            <a:ext cx="1722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3393877"/>
            <a:ext cx="17228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갤럭시 S26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7950" y="3546277"/>
            <a:ext cx="17228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에이전틱 AI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7950" y="3698677"/>
            <a:ext cx="17228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2026.02 출시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476351" y="3022550"/>
            <a:ext cx="2032099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495401" y="3022550"/>
            <a:ext cx="0" cy="95860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6851" y="3200251"/>
            <a:ext cx="17229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AI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66851" y="3384352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K-EXAONE 236B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666851" y="3527227"/>
            <a:ext cx="17229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Top 10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66851" y="3679627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특화 LLM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635401" y="3022550"/>
            <a:ext cx="2031950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4451" y="3022550"/>
            <a:ext cx="0" cy="9586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5901" y="3200251"/>
            <a:ext cx="1722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5901" y="3393877"/>
            <a:ext cx="17228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HyperCLOVA X OMNI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25901" y="3536752"/>
            <a:ext cx="17228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SEED 오픈소스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25901" y="3689152"/>
            <a:ext cx="17228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+ 오픈 생태계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794302" y="3022550"/>
            <a:ext cx="2032099" cy="958602"/>
          </a:xfrm>
          <a:prstGeom prst="roundRect">
            <a:avLst>
              <a:gd name="adj" fmla="val 79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813352" y="3022550"/>
            <a:ext cx="0" cy="958602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4802" y="3200251"/>
            <a:ext cx="17229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84802" y="3384352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A.X K1 500B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84802" y="3527227"/>
            <a:ext cx="17229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에이닷 MAU 1,000만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84802" y="3679627"/>
            <a:ext cx="172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AI 서비스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MS투데이 (AI기본법)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InvestKOREA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Korea Herald (K-EXAONE)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삼성 뉴스룸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2155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- 다음 패러다임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4178201" cy="1066354"/>
          </a:xfrm>
          <a:prstGeom prst="roundRect">
            <a:avLst>
              <a:gd name="adj" fmla="val 714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126" y="974527"/>
            <a:ext cx="38279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0126" y="1117402"/>
            <a:ext cx="38279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챗봇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126" y="1330077"/>
            <a:ext cx="38279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→ 답변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126" y="1523702"/>
            <a:ext cx="3827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Q&amp;A, 사람이 지시해야 동작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48051" y="787301"/>
            <a:ext cx="4178350" cy="1066354"/>
          </a:xfrm>
          <a:prstGeom prst="roundRect">
            <a:avLst>
              <a:gd name="adj" fmla="val 7146"/>
            </a:avLst>
          </a:prstGeom>
          <a:solidFill>
            <a:srgbClr val="0B1426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0727" y="974527"/>
            <a:ext cx="38280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&amp; NEXT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60727" y="1117402"/>
            <a:ext cx="38280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0727" y="1330077"/>
            <a:ext cx="3828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→ 계획 → 실행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60727" y="1511052"/>
            <a:ext cx="382805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17450" y="2006054"/>
            <a:ext cx="2768650" cy="1066502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7450" y="2025104"/>
            <a:ext cx="27686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850" y="2221855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Operator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9850" y="2405955"/>
            <a:ext cx="2513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WebVoyager 벤치마크 1위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9850" y="2571006"/>
            <a:ext cx="2513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9850" y="2780556"/>
            <a:ext cx="25131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자율 조작 정확도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87601" y="2006054"/>
            <a:ext cx="2768650" cy="1066502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87601" y="2025104"/>
            <a:ext cx="276865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0001" y="2221855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MCP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40001" y="2405955"/>
            <a:ext cx="2513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10,000+개 연동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40001" y="2571006"/>
            <a:ext cx="25131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9,700만/월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40001" y="2790081"/>
            <a:ext cx="25131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 표준 프로토콜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057751" y="2006054"/>
            <a:ext cx="2768650" cy="1066502"/>
          </a:xfrm>
          <a:prstGeom prst="roundRect">
            <a:avLst>
              <a:gd name="adj" fmla="val 7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057751" y="2025104"/>
            <a:ext cx="2768650" cy="0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0151" y="2221855"/>
            <a:ext cx="2513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Agentforce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0151" y="2405955"/>
            <a:ext cx="25131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22,000건 거래 달성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10151" y="2571006"/>
            <a:ext cx="25131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자동 해결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0151" y="2790081"/>
            <a:ext cx="25131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CRM AI 에이전트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17450" y="4613374"/>
            <a:ext cx="8508950" cy="377726"/>
          </a:xfrm>
          <a:prstGeom prst="roundRect">
            <a:avLst>
              <a:gd name="adj" fmla="val 2017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9574" y="4740325"/>
            <a:ext cx="8264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앱 AI 에이전트: 5%(2025) → 40%(2026) (Gartner)  |  시장 규모: $78억 → $526억 (2030)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Gartner 2025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 Tech Review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Pento (MCP)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Multimodal.dev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15801"/>
            <a:ext cx="21320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일자리의 미래 + Q&amp;A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83650" y="0"/>
            <a:ext cx="660350" cy="660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36062" y="253901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7450" y="787301"/>
            <a:ext cx="855464" cy="279202"/>
          </a:xfrm>
          <a:prstGeom prst="roundRect">
            <a:avLst>
              <a:gd name="adj" fmla="val 2274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850702"/>
            <a:ext cx="613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일자리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7450" y="1168003"/>
            <a:ext cx="5016401" cy="1399580"/>
          </a:xfrm>
          <a:prstGeom prst="roundRect">
            <a:avLst>
              <a:gd name="adj" fmla="val 7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151" y="1320403"/>
            <a:ext cx="4754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 Future of Jobs 2025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95151" y="1479054"/>
            <a:ext cx="2266950" cy="571202"/>
          </a:xfrm>
          <a:prstGeom prst="roundRect">
            <a:avLst>
              <a:gd name="adj" fmla="val 1334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1687" y="1590080"/>
            <a:ext cx="20338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1687" y="1720155"/>
            <a:ext cx="2033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9,200만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9052" y="1479054"/>
            <a:ext cx="2267099" cy="571202"/>
          </a:xfrm>
          <a:prstGeom prst="roundRect">
            <a:avLst>
              <a:gd name="adj" fmla="val 13340"/>
            </a:avLst>
          </a:prstGeom>
          <a:solidFill>
            <a:srgbClr val="ECFEFF"/>
          </a:solidFill>
          <a:ln w="9525">
            <a:solidFill>
              <a:srgbClr val="A5F3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05585" y="1590080"/>
            <a:ext cx="20340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창출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05585" y="1720155"/>
            <a:ext cx="203403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151" y="2126456"/>
            <a:ext cx="4660999" cy="288727"/>
          </a:xfrm>
          <a:prstGeom prst="roundRect">
            <a:avLst>
              <a:gd name="adj" fmla="val 2199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7746" y="2199382"/>
            <a:ext cx="4475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 +7,800만 일자리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450" y="2656433"/>
            <a:ext cx="5016401" cy="456902"/>
          </a:xfrm>
          <a:prstGeom prst="roundRect">
            <a:avLst>
              <a:gd name="adj" fmla="val 16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6500" y="2656433"/>
            <a:ext cx="0" cy="45690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501" y="2757934"/>
            <a:ext cx="48188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분석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501" y="2907060"/>
            <a:ext cx="48188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선진국 일자리 60% AI 노출, 절반은 생산성 강화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7450" y="3176736"/>
            <a:ext cx="5016401" cy="456902"/>
          </a:xfrm>
          <a:prstGeom prst="roundRect">
            <a:avLst>
              <a:gd name="adj" fmla="val 16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6500" y="3176736"/>
            <a:ext cx="0" cy="45690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501" y="3278237"/>
            <a:ext cx="48188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스킬 전환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2501" y="3427363"/>
            <a:ext cx="48188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기존 스킬 39% 구식화 → 재교육 필수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524500" y="787301"/>
            <a:ext cx="1183332" cy="269677"/>
          </a:xfrm>
          <a:prstGeom prst="roundRect">
            <a:avLst>
              <a:gd name="adj" fmla="val 23547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51450" y="850702"/>
            <a:ext cx="9480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24500" y="1158478"/>
            <a:ext cx="323850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76900" y="128542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99534" y="136475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08502" y="1285429"/>
            <a:ext cx="13103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이미 전 산업에 깊이 침투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08502" y="1434554"/>
            <a:ext cx="1310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의료, 금융, 교육, 콘텐츠, 일상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524500" y="1818680"/>
            <a:ext cx="323850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76900" y="194563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99534" y="202495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08502" y="1945630"/>
            <a:ext cx="14555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도구에서 자율 에이전트로 진화 중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08502" y="2094756"/>
            <a:ext cx="14555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 → 코파일럿 → 에이전트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524500" y="2478881"/>
            <a:ext cx="323850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76900" y="260583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FFF1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99534" y="268515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08502" y="2605832"/>
            <a:ext cx="13750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한국은 AI 기본법으로 세계 선도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08502" y="2754957"/>
            <a:ext cx="13750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100조 투자 + 법제도 선도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983557" y="4575274"/>
            <a:ext cx="3176736" cy="415826"/>
          </a:xfrm>
          <a:prstGeom prst="roundRect">
            <a:avLst>
              <a:gd name="adj" fmla="val 61083"/>
            </a:avLst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340410" y="4702225"/>
            <a:ext cx="24630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 질문 있으시면 편하게 해주세요!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6032" y="473659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00" b="1" dirty="0">
                <a:solidFill>
                  <a:srgbClr val="94A3B8"/>
                </a:solidFill>
              </a:rPr>
              <a:t>출처: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WEF Future of Jobs 2025</a:t>
            </a:r>
            <a:pPr indent="0" marL="0">
              <a:buNone/>
            </a:pPr>
            <a:r>
              <a:rPr lang="en-US" sz="500" dirty="0">
                <a:solidFill>
                  <a:srgbClr val="64748B"/>
                </a:solidFill>
              </a:rPr>
              <a:t> | </a:t>
            </a:r>
            <a:pPr indent="0" marL="0">
              <a:buNone/>
            </a:pPr>
            <a:r>
              <a:rPr lang="en-US" sz="500" u="sng" dirty="0">
                <a:solidFill>
                  <a:srgbClr val="06B6D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IMF 2026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어디까지 왔을까? - 비전공자를 위한 인공지능 핵심 가이드</dc:title>
  <dc:subject>PptxGenJS Presentation</dc:subject>
  <dc:creator>AI Research Team</dc:creator>
  <cp:lastModifiedBy>AI Research Team</cp:lastModifiedBy>
  <cp:revision>1</cp:revision>
  <dcterms:created xsi:type="dcterms:W3CDTF">2026-03-04T11:56:34Z</dcterms:created>
  <dcterms:modified xsi:type="dcterms:W3CDTF">2026-03-04T11:56:34Z</dcterms:modified>
</cp:coreProperties>
</file>